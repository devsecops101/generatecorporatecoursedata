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59" r:id="rId4"/>
    <p:sldId id="320" r:id="rId5"/>
    <p:sldId id="322" r:id="rId6"/>
    <p:sldId id="317" r:id="rId7"/>
    <p:sldId id="314" r:id="rId8"/>
    <p:sldId id="316" r:id="rId9"/>
    <p:sldId id="318" r:id="rId10"/>
  </p:sldIdLst>
  <p:sldSz cx="18288000" cy="10287000"/>
  <p:notesSz cx="6858000" cy="9144000"/>
  <p:embeddedFontLst>
    <p:embeddedFont>
      <p:font typeface="Libre Franklin" pitchFamily="2" charset="0"/>
      <p:regular r:id="rId11"/>
      <p:bold r:id="rId12"/>
      <p:italic r:id="rId13"/>
      <p:boldItalic r:id="rId14"/>
    </p:embeddedFont>
    <p:embeddedFont>
      <p:font typeface="Libre Franklin Light" pitchFamily="2" charset="0"/>
      <p:regular r:id="rId15"/>
      <p:italic r:id="rId16"/>
    </p:embeddedFont>
    <p:embeddedFont>
      <p:font typeface="Libre Franklin Thin" pitchFamily="2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B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4682" autoAdjust="0"/>
  </p:normalViewPr>
  <p:slideViewPr>
    <p:cSldViewPr>
      <p:cViewPr varScale="1">
        <p:scale>
          <a:sx n="52" d="100"/>
          <a:sy n="52" d="100"/>
        </p:scale>
        <p:origin x="70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89978" y="0"/>
            <a:ext cx="4898022" cy="10287000"/>
          </a:xfrm>
          <a:custGeom>
            <a:avLst/>
            <a:gdLst/>
            <a:ahLst/>
            <a:cxnLst/>
            <a:rect l="l" t="t" r="r" b="b"/>
            <a:pathLst>
              <a:path w="4898022" h="10287000">
                <a:moveTo>
                  <a:pt x="0" y="0"/>
                </a:moveTo>
                <a:lnTo>
                  <a:pt x="4898022" y="0"/>
                </a:lnTo>
                <a:lnTo>
                  <a:pt x="48980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0198" r="-15984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3" name="AutoShape 3"/>
          <p:cNvSpPr/>
          <p:nvPr/>
        </p:nvSpPr>
        <p:spPr>
          <a:xfrm>
            <a:off x="1514296" y="7614299"/>
            <a:ext cx="4446467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514296" y="8119124"/>
            <a:ext cx="3091390" cy="1209507"/>
          </a:xfrm>
          <a:custGeom>
            <a:avLst/>
            <a:gdLst/>
            <a:ahLst/>
            <a:cxnLst/>
            <a:rect l="l" t="t" r="r" b="b"/>
            <a:pathLst>
              <a:path w="3091390" h="1209507">
                <a:moveTo>
                  <a:pt x="0" y="0"/>
                </a:moveTo>
                <a:lnTo>
                  <a:pt x="3091391" y="0"/>
                </a:lnTo>
                <a:lnTo>
                  <a:pt x="3091391" y="1209506"/>
                </a:lnTo>
                <a:lnTo>
                  <a:pt x="0" y="120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1514296" y="1269777"/>
            <a:ext cx="10805586" cy="496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200"/>
              </a:lnSpc>
            </a:pPr>
            <a:r>
              <a:rPr lang="en-US" sz="96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4296" y="6576075"/>
            <a:ext cx="805825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Why human intervention remains essential in AI-assisted operations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0313" r="-154431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5671887-D288-A419-C450-F71F29F45A0F}"/>
              </a:ext>
            </a:extLst>
          </p:cNvPr>
          <p:cNvSpPr/>
          <p:nvPr/>
        </p:nvSpPr>
        <p:spPr>
          <a:xfrm>
            <a:off x="5551657" y="1028700"/>
            <a:ext cx="11707643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2C26262A-5A6B-8996-5350-24973D01A114}"/>
              </a:ext>
            </a:extLst>
          </p:cNvPr>
          <p:cNvSpPr/>
          <p:nvPr/>
        </p:nvSpPr>
        <p:spPr>
          <a:xfrm>
            <a:off x="5551657" y="2013492"/>
            <a:ext cx="11707643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7B8C36A-5A7A-BA07-7F8C-DEF8E47B5445}"/>
              </a:ext>
            </a:extLst>
          </p:cNvPr>
          <p:cNvSpPr txBox="1"/>
          <p:nvPr/>
        </p:nvSpPr>
        <p:spPr>
          <a:xfrm>
            <a:off x="5447094" y="2301875"/>
            <a:ext cx="11812206" cy="1114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54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When AI Needs Human Guidance</a:t>
            </a:r>
            <a:endParaRPr lang="en-US" sz="3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BDAD7627-B287-A722-0EDF-2F855DA5D7CD}"/>
              </a:ext>
            </a:extLst>
          </p:cNvPr>
          <p:cNvSpPr txBox="1"/>
          <p:nvPr/>
        </p:nvSpPr>
        <p:spPr>
          <a:xfrm>
            <a:off x="5499375" y="4782495"/>
            <a:ext cx="11812206" cy="446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AI makes mistakes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Context often gets missed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Humans catch critical errors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Judgement matters most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You are the safeguard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46EEDC33-D412-D066-B8A0-DD00A81B7898}"/>
              </a:ext>
            </a:extLst>
          </p:cNvPr>
          <p:cNvSpPr/>
          <p:nvPr/>
        </p:nvSpPr>
        <p:spPr>
          <a:xfrm>
            <a:off x="5551657" y="1056817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873B9B18-6CA2-F625-BB77-228CC05CA381}"/>
              </a:ext>
            </a:extLst>
          </p:cNvPr>
          <p:cNvSpPr txBox="1"/>
          <p:nvPr/>
        </p:nvSpPr>
        <p:spPr>
          <a:xfrm>
            <a:off x="5551657" y="3530717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Recognising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 the limits of AI systems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Google Shape;194;g3e69c54ea80_1_333">
            <a:extLst>
              <a:ext uri="{FF2B5EF4-FFF2-40B4-BE49-F238E27FC236}">
                <a16:creationId xmlns:a16="http://schemas.microsoft.com/office/drawing/2014/main" id="{0BE5E19D-6BF7-6A6B-42D8-5D8603AE0202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91;g3e69c54ea80_1_333">
            <a:extLst>
              <a:ext uri="{FF2B5EF4-FFF2-40B4-BE49-F238E27FC236}">
                <a16:creationId xmlns:a16="http://schemas.microsoft.com/office/drawing/2014/main" id="{5BE8701D-7E24-3C4A-62DD-4D5C7D46756B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92;g3e69c54ea80_1_333">
            <a:extLst>
              <a:ext uri="{FF2B5EF4-FFF2-40B4-BE49-F238E27FC236}">
                <a16:creationId xmlns:a16="http://schemas.microsoft.com/office/drawing/2014/main" id="{765CA2D4-3056-1A69-6722-E813FD89409E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93;g3e69c54ea80_1_333">
            <a:extLst>
              <a:ext uri="{FF2B5EF4-FFF2-40B4-BE49-F238E27FC236}">
                <a16:creationId xmlns:a16="http://schemas.microsoft.com/office/drawing/2014/main" id="{786B4E6F-58E6-7DE5-D623-78068B186A0D}"/>
              </a:ext>
            </a:extLst>
          </p:cNvPr>
          <p:cNvSpPr txBox="1"/>
          <p:nvPr/>
        </p:nvSpPr>
        <p:spPr>
          <a:xfrm>
            <a:off x="1036494" y="1924659"/>
            <a:ext cx="1621500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66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How AI Systems Fail</a:t>
            </a:r>
            <a:endParaRPr lang="en-US" sz="500" dirty="0"/>
          </a:p>
        </p:txBody>
      </p:sp>
      <p:sp>
        <p:nvSpPr>
          <p:cNvPr id="5" name="Google Shape;194;g3e69c54ea80_1_333">
            <a:extLst>
              <a:ext uri="{FF2B5EF4-FFF2-40B4-BE49-F238E27FC236}">
                <a16:creationId xmlns:a16="http://schemas.microsoft.com/office/drawing/2014/main" id="{9714BE64-B869-D3AF-ED18-9B36D073C08C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98;g3e69c54ea80_1_333">
            <a:extLst>
              <a:ext uri="{FF2B5EF4-FFF2-40B4-BE49-F238E27FC236}">
                <a16:creationId xmlns:a16="http://schemas.microsoft.com/office/drawing/2014/main" id="{8F74E5A1-57C6-BAB7-A06A-B7CC875C33E3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9;g3e69c54ea80_1_333">
            <a:extLst>
              <a:ext uri="{FF2B5EF4-FFF2-40B4-BE49-F238E27FC236}">
                <a16:creationId xmlns:a16="http://schemas.microsoft.com/office/drawing/2014/main" id="{8F92BF0B-13DB-B89F-68F3-D53B24492CAC}"/>
              </a:ext>
            </a:extLst>
          </p:cNvPr>
          <p:cNvSpPr txBox="1"/>
          <p:nvPr/>
        </p:nvSpPr>
        <p:spPr>
          <a:xfrm>
            <a:off x="5770500" y="3067845"/>
            <a:ext cx="6747000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3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Understanding where automation breaks down</a:t>
            </a:r>
            <a:endParaRPr sz="2300" dirty="0">
              <a:solidFill>
                <a:schemeClr val="accent1">
                  <a:lumMod val="40000"/>
                  <a:lumOff val="60000"/>
                </a:schemeClr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44CB9D-1416-784F-E65B-793CDC687E88}"/>
              </a:ext>
            </a:extLst>
          </p:cNvPr>
          <p:cNvGrpSpPr/>
          <p:nvPr/>
        </p:nvGrpSpPr>
        <p:grpSpPr>
          <a:xfrm>
            <a:off x="1495363" y="4300758"/>
            <a:ext cx="5803186" cy="1461168"/>
            <a:chOff x="1495363" y="4648200"/>
            <a:chExt cx="5803186" cy="11582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9CC5CA-B286-0AB1-47E4-45E9DA02EF7B}"/>
                </a:ext>
              </a:extLst>
            </p:cNvPr>
            <p:cNvSpPr/>
            <p:nvPr/>
          </p:nvSpPr>
          <p:spPr>
            <a:xfrm>
              <a:off x="1495363" y="4648200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  <p:sp>
          <p:nvSpPr>
            <p:cNvPr id="10" name="Google Shape;197;g3e69c54ea80_1_333">
              <a:extLst>
                <a:ext uri="{FF2B5EF4-FFF2-40B4-BE49-F238E27FC236}">
                  <a16:creationId xmlns:a16="http://schemas.microsoft.com/office/drawing/2014/main" id="{884161BB-43A9-A8E7-458C-5E5384815A5A}"/>
                </a:ext>
              </a:extLst>
            </p:cNvPr>
            <p:cNvSpPr txBox="1"/>
            <p:nvPr/>
          </p:nvSpPr>
          <p:spPr>
            <a:xfrm>
              <a:off x="1525437" y="4882367"/>
              <a:ext cx="5773112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Trained on past data, struggles with change</a:t>
              </a:r>
              <a:endParaRPr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A17432-C3F7-A308-14D0-F5B9F41046F8}"/>
              </a:ext>
            </a:extLst>
          </p:cNvPr>
          <p:cNvGrpSpPr/>
          <p:nvPr/>
        </p:nvGrpSpPr>
        <p:grpSpPr>
          <a:xfrm>
            <a:off x="10539078" y="4300757"/>
            <a:ext cx="6468762" cy="1461167"/>
            <a:chOff x="10539078" y="4648200"/>
            <a:chExt cx="6468762" cy="1158240"/>
          </a:xfrm>
        </p:grpSpPr>
        <p:sp>
          <p:nvSpPr>
            <p:cNvPr id="12" name="Google Shape;205;g3e69c54ea80_1_333">
              <a:extLst>
                <a:ext uri="{FF2B5EF4-FFF2-40B4-BE49-F238E27FC236}">
                  <a16:creationId xmlns:a16="http://schemas.microsoft.com/office/drawing/2014/main" id="{4BB4B738-F168-D48A-A116-4C582E48E81D}"/>
                </a:ext>
              </a:extLst>
            </p:cNvPr>
            <p:cNvSpPr txBox="1"/>
            <p:nvPr/>
          </p:nvSpPr>
          <p:spPr>
            <a:xfrm>
              <a:off x="10691478" y="4882368"/>
              <a:ext cx="6162709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Confidently wrong with no self-awareness</a:t>
              </a:r>
              <a:endParaRPr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1432C5B-A3B2-6BC8-CF96-92C3C37950BF}"/>
                </a:ext>
              </a:extLst>
            </p:cNvPr>
            <p:cNvSpPr/>
            <p:nvPr/>
          </p:nvSpPr>
          <p:spPr>
            <a:xfrm>
              <a:off x="10539078" y="4648200"/>
              <a:ext cx="6468762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4CB749-5EF1-5A2E-9DD4-14F07201B23C}"/>
              </a:ext>
            </a:extLst>
          </p:cNvPr>
          <p:cNvGrpSpPr/>
          <p:nvPr/>
        </p:nvGrpSpPr>
        <p:grpSpPr>
          <a:xfrm>
            <a:off x="1495363" y="7688224"/>
            <a:ext cx="6036056" cy="1461168"/>
            <a:chOff x="1495363" y="7309811"/>
            <a:chExt cx="5803186" cy="1158240"/>
          </a:xfrm>
        </p:grpSpPr>
        <p:sp>
          <p:nvSpPr>
            <p:cNvPr id="15" name="Google Shape;202;g3e69c54ea80_1_333">
              <a:extLst>
                <a:ext uri="{FF2B5EF4-FFF2-40B4-BE49-F238E27FC236}">
                  <a16:creationId xmlns:a16="http://schemas.microsoft.com/office/drawing/2014/main" id="{DD7438AE-09BA-6D28-7987-CAD27533F114}"/>
                </a:ext>
              </a:extLst>
            </p:cNvPr>
            <p:cNvSpPr txBox="1"/>
            <p:nvPr/>
          </p:nvSpPr>
          <p:spPr>
            <a:xfrm>
              <a:off x="1607306" y="7720945"/>
              <a:ext cx="5579300" cy="341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Poor handling of edge cases</a:t>
              </a:r>
              <a:endParaRPr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E4BE2B-2BA4-03CF-8AB5-1D99CBB2722E}"/>
                </a:ext>
              </a:extLst>
            </p:cNvPr>
            <p:cNvSpPr/>
            <p:nvPr/>
          </p:nvSpPr>
          <p:spPr>
            <a:xfrm>
              <a:off x="1495363" y="7309811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0AD570-189E-7AB5-F430-C70AEB3303A9}"/>
              </a:ext>
            </a:extLst>
          </p:cNvPr>
          <p:cNvGrpSpPr/>
          <p:nvPr/>
        </p:nvGrpSpPr>
        <p:grpSpPr>
          <a:xfrm>
            <a:off x="6077733" y="6134100"/>
            <a:ext cx="5803186" cy="1158240"/>
            <a:chOff x="6047253" y="5973340"/>
            <a:chExt cx="5803186" cy="1158240"/>
          </a:xfrm>
        </p:grpSpPr>
        <p:sp>
          <p:nvSpPr>
            <p:cNvPr id="18" name="Google Shape;211;g3e69c54ea80_1_333">
              <a:extLst>
                <a:ext uri="{FF2B5EF4-FFF2-40B4-BE49-F238E27FC236}">
                  <a16:creationId xmlns:a16="http://schemas.microsoft.com/office/drawing/2014/main" id="{BF087A74-5F17-1FC2-3DC1-5A8B86C53550}"/>
                </a:ext>
              </a:extLst>
            </p:cNvPr>
            <p:cNvSpPr txBox="1"/>
            <p:nvPr/>
          </p:nvSpPr>
          <p:spPr>
            <a:xfrm>
              <a:off x="6062290" y="6125952"/>
              <a:ext cx="5773112" cy="86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Missing nuance, tone, cultural context</a:t>
              </a:r>
              <a:endParaRPr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9B56679-A05E-FA29-2B5C-4D6732D7A74B}"/>
                </a:ext>
              </a:extLst>
            </p:cNvPr>
            <p:cNvSpPr/>
            <p:nvPr/>
          </p:nvSpPr>
          <p:spPr>
            <a:xfrm>
              <a:off x="6047253" y="5973340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9A22CD-0776-B9FF-D420-28203A384EC8}"/>
              </a:ext>
            </a:extLst>
          </p:cNvPr>
          <p:cNvGrpSpPr/>
          <p:nvPr/>
        </p:nvGrpSpPr>
        <p:grpSpPr>
          <a:xfrm>
            <a:off x="10755431" y="7688224"/>
            <a:ext cx="6036056" cy="1461168"/>
            <a:chOff x="1495363" y="7309811"/>
            <a:chExt cx="5803186" cy="1158240"/>
          </a:xfrm>
        </p:grpSpPr>
        <p:sp>
          <p:nvSpPr>
            <p:cNvPr id="21" name="Google Shape;202;g3e69c54ea80_1_333">
              <a:extLst>
                <a:ext uri="{FF2B5EF4-FFF2-40B4-BE49-F238E27FC236}">
                  <a16:creationId xmlns:a16="http://schemas.microsoft.com/office/drawing/2014/main" id="{5B84BFFF-1773-DA6B-DF86-2A343CC83C60}"/>
                </a:ext>
              </a:extLst>
            </p:cNvPr>
            <p:cNvSpPr txBox="1"/>
            <p:nvPr/>
          </p:nvSpPr>
          <p:spPr>
            <a:xfrm>
              <a:off x="1607306" y="7550218"/>
              <a:ext cx="5579300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No understanding of real consequences</a:t>
              </a:r>
              <a:endParaRPr lang="en-US" sz="2800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77927DB-ECF2-A459-0283-475663733E11}"/>
                </a:ext>
              </a:extLst>
            </p:cNvPr>
            <p:cNvSpPr/>
            <p:nvPr/>
          </p:nvSpPr>
          <p:spPr>
            <a:xfrm>
              <a:off x="1495363" y="7309811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72EF0-E576-8B0B-FBE3-0011C73B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FD871A-BFD4-3EC2-F9FF-6C052D10A985}"/>
              </a:ext>
            </a:extLst>
          </p:cNvPr>
          <p:cNvSpPr/>
          <p:nvPr/>
        </p:nvSpPr>
        <p:spPr>
          <a:xfrm>
            <a:off x="13408742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6694" r="-89712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7C936E2-2BB9-51EC-099B-0D37DB7896DF}"/>
              </a:ext>
            </a:extLst>
          </p:cNvPr>
          <p:cNvSpPr txBox="1"/>
          <p:nvPr/>
        </p:nvSpPr>
        <p:spPr>
          <a:xfrm>
            <a:off x="990600" y="2309391"/>
            <a:ext cx="11812206" cy="99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8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AI's Blind Spots in Resource Industries</a:t>
            </a:r>
            <a:endParaRPr lang="en-US" sz="2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1B16AED-10C5-D8C0-3AFA-B63583975114}"/>
              </a:ext>
            </a:extLst>
          </p:cNvPr>
          <p:cNvSpPr txBox="1"/>
          <p:nvPr/>
        </p:nvSpPr>
        <p:spPr>
          <a:xfrm>
            <a:off x="1042881" y="4790011"/>
            <a:ext cx="11812206" cy="446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Weather patterns change faster than training updates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Equipment conditions vary by location and age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Safety protocols require human interpretation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Environmental factors need local knowledge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Regulatory changes happen in real-time</a:t>
            </a:r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A568ADBE-3AAA-A810-D547-6C1ED8FE4958}"/>
              </a:ext>
            </a:extLst>
          </p:cNvPr>
          <p:cNvSpPr txBox="1"/>
          <p:nvPr/>
        </p:nvSpPr>
        <p:spPr>
          <a:xfrm>
            <a:off x="1095162" y="3538233"/>
            <a:ext cx="9725237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Specific risks in agriculture, mining, and energy operations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" name="Google Shape;191;g3e69c54ea80_1_333">
            <a:extLst>
              <a:ext uri="{FF2B5EF4-FFF2-40B4-BE49-F238E27FC236}">
                <a16:creationId xmlns:a16="http://schemas.microsoft.com/office/drawing/2014/main" id="{9A286DD0-00FD-C844-F374-86106B69A0F6}"/>
              </a:ext>
            </a:extLst>
          </p:cNvPr>
          <p:cNvCxnSpPr>
            <a:cxnSpLocks/>
          </p:cNvCxnSpPr>
          <p:nvPr/>
        </p:nvCxnSpPr>
        <p:spPr>
          <a:xfrm>
            <a:off x="1028700" y="1028700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92;g3e69c54ea80_1_333">
            <a:extLst>
              <a:ext uri="{FF2B5EF4-FFF2-40B4-BE49-F238E27FC236}">
                <a16:creationId xmlns:a16="http://schemas.microsoft.com/office/drawing/2014/main" id="{E3A89640-D589-2951-0844-ADDB1B3E4840}"/>
              </a:ext>
            </a:extLst>
          </p:cNvPr>
          <p:cNvCxnSpPr>
            <a:cxnSpLocks/>
          </p:cNvCxnSpPr>
          <p:nvPr/>
        </p:nvCxnSpPr>
        <p:spPr>
          <a:xfrm>
            <a:off x="1028700" y="2013492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94;g3e69c54ea80_1_333">
            <a:extLst>
              <a:ext uri="{FF2B5EF4-FFF2-40B4-BE49-F238E27FC236}">
                <a16:creationId xmlns:a16="http://schemas.microsoft.com/office/drawing/2014/main" id="{6074BC31-5BB8-40D1-6272-8AB54B6D0E9A}"/>
              </a:ext>
            </a:extLst>
          </p:cNvPr>
          <p:cNvSpPr txBox="1"/>
          <p:nvPr/>
        </p:nvSpPr>
        <p:spPr>
          <a:xfrm>
            <a:off x="4763706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17" name="Google Shape;198;g3e69c54ea80_1_333">
            <a:extLst>
              <a:ext uri="{FF2B5EF4-FFF2-40B4-BE49-F238E27FC236}">
                <a16:creationId xmlns:a16="http://schemas.microsoft.com/office/drawing/2014/main" id="{93DBFE4E-BF64-1B57-FBD1-10F8FAECD1EF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10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3B6ED-F13F-7E1B-EDBA-D4F4F96C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1AAF7253-9CC2-CF8B-6709-BCD0D5FAF955}"/>
              </a:ext>
            </a:extLst>
          </p:cNvPr>
          <p:cNvSpPr txBox="1"/>
          <p:nvPr/>
        </p:nvSpPr>
        <p:spPr>
          <a:xfrm>
            <a:off x="960624" y="7249352"/>
            <a:ext cx="324229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Sudden shifts in tone or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E936E-127C-E5AE-9B02-B9E9A1277383}"/>
              </a:ext>
            </a:extLst>
          </p:cNvPr>
          <p:cNvSpPr txBox="1"/>
          <p:nvPr/>
        </p:nvSpPr>
        <p:spPr>
          <a:xfrm>
            <a:off x="5140424" y="7249352"/>
            <a:ext cx="325804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System flags uncertainty or incomplete responses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7E3B714-3AEE-AA31-7DDD-242C4CAD2AFD}"/>
              </a:ext>
            </a:extLst>
          </p:cNvPr>
          <p:cNvSpPr txBox="1"/>
          <p:nvPr/>
        </p:nvSpPr>
        <p:spPr>
          <a:xfrm>
            <a:off x="914400" y="5124450"/>
            <a:ext cx="3242299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Overly confident outputs from incomplete data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134A834-ADDF-C397-C662-763E6B75B62C}"/>
              </a:ext>
            </a:extLst>
          </p:cNvPr>
          <p:cNvSpPr txBox="1"/>
          <p:nvPr/>
        </p:nvSpPr>
        <p:spPr>
          <a:xfrm>
            <a:off x="5123457" y="5124450"/>
            <a:ext cx="325804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 Repeated errors in the same area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9D45F7B7-A9BA-9004-BBC5-C1CEF1F2CEDA}"/>
              </a:ext>
            </a:extLst>
          </p:cNvPr>
          <p:cNvSpPr txBox="1"/>
          <p:nvPr/>
        </p:nvSpPr>
        <p:spPr>
          <a:xfrm>
            <a:off x="9348257" y="5124450"/>
            <a:ext cx="325804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  <a:spcBef>
                <a:spcPct val="0"/>
              </a:spcBef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Results contradicting known facts or policies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82EB964D-FF6D-FA77-6D86-31E5231CC062}"/>
              </a:ext>
            </a:extLst>
          </p:cNvPr>
          <p:cNvSpPr txBox="1"/>
          <p:nvPr/>
        </p:nvSpPr>
        <p:spPr>
          <a:xfrm>
            <a:off x="990600" y="2309391"/>
            <a:ext cx="11812206" cy="123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6000" dirty="0" err="1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Recognising</a:t>
            </a:r>
            <a:r>
              <a:rPr lang="en-US" sz="60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 the Warning Signs</a:t>
            </a:r>
            <a:endParaRPr lang="en-US" sz="400" dirty="0"/>
          </a:p>
        </p:txBody>
      </p:sp>
      <p:sp>
        <p:nvSpPr>
          <p:cNvPr id="8" name="Google Shape;221;g3e69c54ea80_1_378">
            <a:extLst>
              <a:ext uri="{FF2B5EF4-FFF2-40B4-BE49-F238E27FC236}">
                <a16:creationId xmlns:a16="http://schemas.microsoft.com/office/drawing/2014/main" id="{EA7EFE2F-0489-3F7D-A912-FFC3537CBA6F}"/>
              </a:ext>
            </a:extLst>
          </p:cNvPr>
          <p:cNvSpPr txBox="1"/>
          <p:nvPr/>
        </p:nvSpPr>
        <p:spPr>
          <a:xfrm>
            <a:off x="1095163" y="3538233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When AI signals need human attention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D2ED5A1A-579D-22F8-42B6-EFCDBA96E740}"/>
              </a:ext>
            </a:extLst>
          </p:cNvPr>
          <p:cNvSpPr txBox="1"/>
          <p:nvPr/>
        </p:nvSpPr>
        <p:spPr>
          <a:xfrm>
            <a:off x="9335967" y="7249352"/>
            <a:ext cx="325804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  <a:spcBef>
                <a:spcPct val="0"/>
              </a:spcBef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Your gut feeling that something is off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3DDA1DED-BFBD-46CB-680C-EB4B496E2A58}"/>
              </a:ext>
            </a:extLst>
          </p:cNvPr>
          <p:cNvSpPr/>
          <p:nvPr/>
        </p:nvSpPr>
        <p:spPr>
          <a:xfrm>
            <a:off x="13408742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43318" r="-43602"/>
            </a:stretch>
          </a:blipFill>
        </p:spPr>
        <p:txBody>
          <a:bodyPr/>
          <a:lstStyle/>
          <a:p>
            <a:endParaRPr lang="en-MY" dirty="0"/>
          </a:p>
        </p:txBody>
      </p:sp>
      <p:cxnSp>
        <p:nvCxnSpPr>
          <p:cNvPr id="9" name="Google Shape;191;g3e69c54ea80_1_333">
            <a:extLst>
              <a:ext uri="{FF2B5EF4-FFF2-40B4-BE49-F238E27FC236}">
                <a16:creationId xmlns:a16="http://schemas.microsoft.com/office/drawing/2014/main" id="{DB31A396-3FC8-57C2-B97A-8B04A1931CF3}"/>
              </a:ext>
            </a:extLst>
          </p:cNvPr>
          <p:cNvCxnSpPr>
            <a:cxnSpLocks/>
          </p:cNvCxnSpPr>
          <p:nvPr/>
        </p:nvCxnSpPr>
        <p:spPr>
          <a:xfrm>
            <a:off x="1028700" y="1028700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92;g3e69c54ea80_1_333">
            <a:extLst>
              <a:ext uri="{FF2B5EF4-FFF2-40B4-BE49-F238E27FC236}">
                <a16:creationId xmlns:a16="http://schemas.microsoft.com/office/drawing/2014/main" id="{750538B9-5B83-0CA6-6D1D-3876D1047FCD}"/>
              </a:ext>
            </a:extLst>
          </p:cNvPr>
          <p:cNvCxnSpPr>
            <a:cxnSpLocks/>
          </p:cNvCxnSpPr>
          <p:nvPr/>
        </p:nvCxnSpPr>
        <p:spPr>
          <a:xfrm>
            <a:off x="1028700" y="2013492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94;g3e69c54ea80_1_333">
            <a:extLst>
              <a:ext uri="{FF2B5EF4-FFF2-40B4-BE49-F238E27FC236}">
                <a16:creationId xmlns:a16="http://schemas.microsoft.com/office/drawing/2014/main" id="{FAE3279E-8F52-6E96-C367-1D8035030AFB}"/>
              </a:ext>
            </a:extLst>
          </p:cNvPr>
          <p:cNvSpPr txBox="1"/>
          <p:nvPr/>
        </p:nvSpPr>
        <p:spPr>
          <a:xfrm>
            <a:off x="4763706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12" name="Google Shape;198;g3e69c54ea80_1_333">
            <a:extLst>
              <a:ext uri="{FF2B5EF4-FFF2-40B4-BE49-F238E27FC236}">
                <a16:creationId xmlns:a16="http://schemas.microsoft.com/office/drawing/2014/main" id="{3DAF2034-09A7-D536-C2FF-2683160719A7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10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159FA-E1F2-DE7A-002F-8518785E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32;g3e69c54ea80_1_191">
            <a:extLst>
              <a:ext uri="{FF2B5EF4-FFF2-40B4-BE49-F238E27FC236}">
                <a16:creationId xmlns:a16="http://schemas.microsoft.com/office/drawing/2014/main" id="{A98ED27D-5F8F-9706-BE3C-8597442AE39D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33;g3e69c54ea80_1_191">
            <a:extLst>
              <a:ext uri="{FF2B5EF4-FFF2-40B4-BE49-F238E27FC236}">
                <a16:creationId xmlns:a16="http://schemas.microsoft.com/office/drawing/2014/main" id="{6A7C2AA9-4A6C-63CC-38F8-CDD65D9FC6B3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34;g3e69c54ea80_1_191">
            <a:extLst>
              <a:ext uri="{FF2B5EF4-FFF2-40B4-BE49-F238E27FC236}">
                <a16:creationId xmlns:a16="http://schemas.microsoft.com/office/drawing/2014/main" id="{41ACF8A4-E771-B0F5-E75F-29C3757081D9}"/>
              </a:ext>
            </a:extLst>
          </p:cNvPr>
          <p:cNvSpPr txBox="1"/>
          <p:nvPr/>
        </p:nvSpPr>
        <p:spPr>
          <a:xfrm>
            <a:off x="1044444" y="1947398"/>
            <a:ext cx="1621500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63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Common Override Triggers</a:t>
            </a:r>
            <a:endParaRPr sz="500" dirty="0"/>
          </a:p>
        </p:txBody>
      </p:sp>
      <p:sp>
        <p:nvSpPr>
          <p:cNvPr id="5" name="Google Shape;135;g3e69c54ea80_1_191">
            <a:extLst>
              <a:ext uri="{FF2B5EF4-FFF2-40B4-BE49-F238E27FC236}">
                <a16:creationId xmlns:a16="http://schemas.microsoft.com/office/drawing/2014/main" id="{990C936D-D7DE-A20A-11BD-24363416C2DD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36;g3e69c54ea80_1_191">
            <a:extLst>
              <a:ext uri="{FF2B5EF4-FFF2-40B4-BE49-F238E27FC236}">
                <a16:creationId xmlns:a16="http://schemas.microsoft.com/office/drawing/2014/main" id="{3937A57B-03B1-8F18-6110-F247C9AA49ED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37;g3e69c54ea80_1_191">
            <a:extLst>
              <a:ext uri="{FF2B5EF4-FFF2-40B4-BE49-F238E27FC236}">
                <a16:creationId xmlns:a16="http://schemas.microsoft.com/office/drawing/2014/main" id="{1A00025C-267D-5DF3-582C-8B2A3BEE1F59}"/>
              </a:ext>
            </a:extLst>
          </p:cNvPr>
          <p:cNvSpPr txBox="1"/>
          <p:nvPr/>
        </p:nvSpPr>
        <p:spPr>
          <a:xfrm>
            <a:off x="5770500" y="3285131"/>
            <a:ext cx="67470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Red flags that demand immediate human review</a:t>
            </a:r>
            <a:endParaRPr dirty="0"/>
          </a:p>
        </p:txBody>
      </p:sp>
      <p:cxnSp>
        <p:nvCxnSpPr>
          <p:cNvPr id="8" name="Google Shape;139;g3e69c54ea80_1_191">
            <a:extLst>
              <a:ext uri="{FF2B5EF4-FFF2-40B4-BE49-F238E27FC236}">
                <a16:creationId xmlns:a16="http://schemas.microsoft.com/office/drawing/2014/main" id="{0AB5345B-80CC-8CCF-2166-A66A60E84BE7}"/>
              </a:ext>
            </a:extLst>
          </p:cNvPr>
          <p:cNvCxnSpPr>
            <a:cxnSpLocks/>
          </p:cNvCxnSpPr>
          <p:nvPr/>
        </p:nvCxnSpPr>
        <p:spPr>
          <a:xfrm>
            <a:off x="6312657" y="5185419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40;g3e69c54ea80_1_191">
            <a:extLst>
              <a:ext uri="{FF2B5EF4-FFF2-40B4-BE49-F238E27FC236}">
                <a16:creationId xmlns:a16="http://schemas.microsoft.com/office/drawing/2014/main" id="{63117C74-A9D7-69CA-E88B-21630F66D782}"/>
              </a:ext>
            </a:extLst>
          </p:cNvPr>
          <p:cNvCxnSpPr>
            <a:cxnSpLocks/>
          </p:cNvCxnSpPr>
          <p:nvPr/>
        </p:nvCxnSpPr>
        <p:spPr>
          <a:xfrm>
            <a:off x="6312657" y="6316268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41;g3e69c54ea80_1_191">
            <a:extLst>
              <a:ext uri="{FF2B5EF4-FFF2-40B4-BE49-F238E27FC236}">
                <a16:creationId xmlns:a16="http://schemas.microsoft.com/office/drawing/2014/main" id="{3579B102-6079-DE00-5E9D-4FC0AFC24F6A}"/>
              </a:ext>
            </a:extLst>
          </p:cNvPr>
          <p:cNvCxnSpPr>
            <a:cxnSpLocks/>
          </p:cNvCxnSpPr>
          <p:nvPr/>
        </p:nvCxnSpPr>
        <p:spPr>
          <a:xfrm>
            <a:off x="6312657" y="7447117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42;g3e69c54ea80_1_191">
            <a:extLst>
              <a:ext uri="{FF2B5EF4-FFF2-40B4-BE49-F238E27FC236}">
                <a16:creationId xmlns:a16="http://schemas.microsoft.com/office/drawing/2014/main" id="{033AFBC3-A497-49A5-EE52-1BA487F952D1}"/>
              </a:ext>
            </a:extLst>
          </p:cNvPr>
          <p:cNvCxnSpPr>
            <a:cxnSpLocks/>
          </p:cNvCxnSpPr>
          <p:nvPr/>
        </p:nvCxnSpPr>
        <p:spPr>
          <a:xfrm>
            <a:off x="6312657" y="8577966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45;g3e69c54ea80_1_191">
            <a:extLst>
              <a:ext uri="{FF2B5EF4-FFF2-40B4-BE49-F238E27FC236}">
                <a16:creationId xmlns:a16="http://schemas.microsoft.com/office/drawing/2014/main" id="{023B15C4-6C97-C797-F912-5C6DCE2D571F}"/>
              </a:ext>
            </a:extLst>
          </p:cNvPr>
          <p:cNvSpPr txBox="1"/>
          <p:nvPr/>
        </p:nvSpPr>
        <p:spPr>
          <a:xfrm>
            <a:off x="3456164" y="4551166"/>
            <a:ext cx="1133334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Numbers that don't pass basic sense checks</a:t>
            </a:r>
            <a:endParaRPr dirty="0"/>
          </a:p>
        </p:txBody>
      </p:sp>
      <p:sp>
        <p:nvSpPr>
          <p:cNvPr id="13" name="Google Shape;148;g3e69c54ea80_1_191">
            <a:extLst>
              <a:ext uri="{FF2B5EF4-FFF2-40B4-BE49-F238E27FC236}">
                <a16:creationId xmlns:a16="http://schemas.microsoft.com/office/drawing/2014/main" id="{27FD0017-AAB7-5229-E533-B5A230B855C2}"/>
              </a:ext>
            </a:extLst>
          </p:cNvPr>
          <p:cNvSpPr txBox="1"/>
          <p:nvPr/>
        </p:nvSpPr>
        <p:spPr>
          <a:xfrm>
            <a:off x="3517149" y="5631417"/>
            <a:ext cx="1121137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Recommendations ignoring safety protocols</a:t>
            </a:r>
            <a:endParaRPr dirty="0"/>
          </a:p>
        </p:txBody>
      </p:sp>
      <p:sp>
        <p:nvSpPr>
          <p:cNvPr id="14" name="Google Shape;151;g3e69c54ea80_1_191">
            <a:extLst>
              <a:ext uri="{FF2B5EF4-FFF2-40B4-BE49-F238E27FC236}">
                <a16:creationId xmlns:a16="http://schemas.microsoft.com/office/drawing/2014/main" id="{751EB2AC-085F-EF47-5338-4CDA01F80490}"/>
              </a:ext>
            </a:extLst>
          </p:cNvPr>
          <p:cNvSpPr txBox="1"/>
          <p:nvPr/>
        </p:nvSpPr>
        <p:spPr>
          <a:xfrm>
            <a:off x="3456164" y="6711668"/>
            <a:ext cx="1133334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Solutions assuming perfect conditions</a:t>
            </a:r>
            <a:endParaRPr dirty="0"/>
          </a:p>
        </p:txBody>
      </p:sp>
      <p:sp>
        <p:nvSpPr>
          <p:cNvPr id="15" name="Google Shape;154;g3e69c54ea80_1_191">
            <a:extLst>
              <a:ext uri="{FF2B5EF4-FFF2-40B4-BE49-F238E27FC236}">
                <a16:creationId xmlns:a16="http://schemas.microsoft.com/office/drawing/2014/main" id="{F8D63E8B-0885-EE30-E41F-050EAFF86FC6}"/>
              </a:ext>
            </a:extLst>
          </p:cNvPr>
          <p:cNvSpPr txBox="1"/>
          <p:nvPr/>
        </p:nvSpPr>
        <p:spPr>
          <a:xfrm>
            <a:off x="3456164" y="7791919"/>
            <a:ext cx="11333340" cy="55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10"/>
              </a:lnSpc>
            </a:pPr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Advice contradicting recent field experience</a:t>
            </a:r>
            <a:endParaRPr dirty="0"/>
          </a:p>
        </p:txBody>
      </p:sp>
      <p:sp>
        <p:nvSpPr>
          <p:cNvPr id="16" name="Google Shape;157;g3e69c54ea80_1_191">
            <a:extLst>
              <a:ext uri="{FF2B5EF4-FFF2-40B4-BE49-F238E27FC236}">
                <a16:creationId xmlns:a16="http://schemas.microsoft.com/office/drawing/2014/main" id="{7A456231-875E-46FE-04DC-A0D720EEDF18}"/>
              </a:ext>
            </a:extLst>
          </p:cNvPr>
          <p:cNvSpPr txBox="1"/>
          <p:nvPr/>
        </p:nvSpPr>
        <p:spPr>
          <a:xfrm>
            <a:off x="3338989" y="9001371"/>
            <a:ext cx="11567690" cy="55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10"/>
              </a:lnSpc>
            </a:pPr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Outputs that seem suspiciously perfect</a:t>
            </a:r>
            <a:endParaRPr dirty="0"/>
          </a:p>
        </p:txBody>
      </p:sp>
      <p:cxnSp>
        <p:nvCxnSpPr>
          <p:cNvPr id="17" name="Google Shape;142;g3e69c54ea80_1_191">
            <a:extLst>
              <a:ext uri="{FF2B5EF4-FFF2-40B4-BE49-F238E27FC236}">
                <a16:creationId xmlns:a16="http://schemas.microsoft.com/office/drawing/2014/main" id="{CA6898B1-1C0B-8ED0-DE67-3342DC650689}"/>
              </a:ext>
            </a:extLst>
          </p:cNvPr>
          <p:cNvCxnSpPr>
            <a:cxnSpLocks/>
          </p:cNvCxnSpPr>
          <p:nvPr/>
        </p:nvCxnSpPr>
        <p:spPr>
          <a:xfrm>
            <a:off x="6312657" y="9738312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49340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32DFC-D224-9C28-D88A-9BB2A8D8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62;g3e69c54ea80_1_265">
            <a:extLst>
              <a:ext uri="{FF2B5EF4-FFF2-40B4-BE49-F238E27FC236}">
                <a16:creationId xmlns:a16="http://schemas.microsoft.com/office/drawing/2014/main" id="{94F69B8C-3D40-2F67-DD81-143B4A8F07FB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63;g3e69c54ea80_1_265">
            <a:extLst>
              <a:ext uri="{FF2B5EF4-FFF2-40B4-BE49-F238E27FC236}">
                <a16:creationId xmlns:a16="http://schemas.microsoft.com/office/drawing/2014/main" id="{B1324976-25B0-6EFD-A325-37587404FF83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5;g3e69c54ea80_1_265">
            <a:extLst>
              <a:ext uri="{FF2B5EF4-FFF2-40B4-BE49-F238E27FC236}">
                <a16:creationId xmlns:a16="http://schemas.microsoft.com/office/drawing/2014/main" id="{4C90B16E-8CF5-A223-FC96-AB32AF195CA2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5" name="Google Shape;166;g3e69c54ea80_1_265">
            <a:extLst>
              <a:ext uri="{FF2B5EF4-FFF2-40B4-BE49-F238E27FC236}">
                <a16:creationId xmlns:a16="http://schemas.microsoft.com/office/drawing/2014/main" id="{A55C7D91-571D-43F8-129E-BD04642447DB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0B4AE37-71AA-33ED-8FED-E7B857584B0E}"/>
              </a:ext>
            </a:extLst>
          </p:cNvPr>
          <p:cNvSpPr/>
          <p:nvPr/>
        </p:nvSpPr>
        <p:spPr>
          <a:xfrm>
            <a:off x="9811016" y="3919941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A1DA157-53CC-DBBE-3D83-62800650455D}"/>
              </a:ext>
            </a:extLst>
          </p:cNvPr>
          <p:cNvSpPr/>
          <p:nvPr/>
        </p:nvSpPr>
        <p:spPr>
          <a:xfrm>
            <a:off x="9811016" y="5042749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34AA5EB-ABBD-B298-5BC7-2A7340173129}"/>
              </a:ext>
            </a:extLst>
          </p:cNvPr>
          <p:cNvSpPr/>
          <p:nvPr/>
        </p:nvSpPr>
        <p:spPr>
          <a:xfrm>
            <a:off x="9811016" y="6165557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97BD9DB-8F75-3BE6-5800-7A100039DDB9}"/>
              </a:ext>
            </a:extLst>
          </p:cNvPr>
          <p:cNvSpPr/>
          <p:nvPr/>
        </p:nvSpPr>
        <p:spPr>
          <a:xfrm>
            <a:off x="9811016" y="7288364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876F96-E6E5-6A6E-0D1F-8011C573AC99}"/>
              </a:ext>
            </a:extLst>
          </p:cNvPr>
          <p:cNvSpPr txBox="1"/>
          <p:nvPr/>
        </p:nvSpPr>
        <p:spPr>
          <a:xfrm>
            <a:off x="1011489" y="2401391"/>
            <a:ext cx="8132511" cy="314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72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Building Override Confidence</a:t>
            </a:r>
            <a:endParaRPr lang="en-US" sz="600" dirty="0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4F631AB0-CDB7-3C66-692D-24F42010C689}"/>
              </a:ext>
            </a:extLst>
          </p:cNvPr>
          <p:cNvSpPr/>
          <p:nvPr/>
        </p:nvSpPr>
        <p:spPr>
          <a:xfrm>
            <a:off x="9811032" y="3009900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520918" h="520918">
                <a:moveTo>
                  <a:pt x="0" y="0"/>
                </a:moveTo>
                <a:lnTo>
                  <a:pt x="520918" y="0"/>
                </a:lnTo>
                <a:lnTo>
                  <a:pt x="520918" y="520918"/>
                </a:lnTo>
                <a:lnTo>
                  <a:pt x="0" y="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8B9D599E-ECB9-56E2-F579-7B6247D43F87}"/>
              </a:ext>
            </a:extLst>
          </p:cNvPr>
          <p:cNvSpPr txBox="1"/>
          <p:nvPr/>
        </p:nvSpPr>
        <p:spPr>
          <a:xfrm>
            <a:off x="10528368" y="3106680"/>
            <a:ext cx="6607311" cy="36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Practice with realistic scenarios regularly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1AA128AA-ECA8-BC7A-4FB4-B9FD9ECB38F5}"/>
              </a:ext>
            </a:extLst>
          </p:cNvPr>
          <p:cNvSpPr/>
          <p:nvPr/>
        </p:nvSpPr>
        <p:spPr>
          <a:xfrm>
            <a:off x="9811017" y="4155848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520918" h="520918">
                <a:moveTo>
                  <a:pt x="0" y="0"/>
                </a:moveTo>
                <a:lnTo>
                  <a:pt x="520918" y="0"/>
                </a:lnTo>
                <a:lnTo>
                  <a:pt x="520918" y="520918"/>
                </a:lnTo>
                <a:lnTo>
                  <a:pt x="0" y="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BBB6B40-DE41-0916-7C6C-E7CEF05DBEC9}"/>
              </a:ext>
            </a:extLst>
          </p:cNvPr>
          <p:cNvSpPr txBox="1"/>
          <p:nvPr/>
        </p:nvSpPr>
        <p:spPr>
          <a:xfrm>
            <a:off x="10528368" y="4228913"/>
            <a:ext cx="6607281" cy="36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Identify the shift from helpful to risky</a:t>
            </a: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1A639F75-D473-9B8C-BAC7-EE22C7F22F2C}"/>
              </a:ext>
            </a:extLst>
          </p:cNvPr>
          <p:cNvSpPr/>
          <p:nvPr/>
        </p:nvSpPr>
        <p:spPr>
          <a:xfrm>
            <a:off x="9811016" y="5301796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9"/>
                </a:lnTo>
                <a:lnTo>
                  <a:pt x="0" y="39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03087063-8355-4EC9-DCCE-E9A05E1CDDCB}"/>
              </a:ext>
            </a:extLst>
          </p:cNvPr>
          <p:cNvSpPr txBox="1"/>
          <p:nvPr/>
        </p:nvSpPr>
        <p:spPr>
          <a:xfrm>
            <a:off x="10528368" y="5394634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Rehearse responses out loud or in writing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F1073B74-874F-13FE-0998-BE7E6D5099DF}"/>
              </a:ext>
            </a:extLst>
          </p:cNvPr>
          <p:cNvSpPr txBox="1"/>
          <p:nvPr/>
        </p:nvSpPr>
        <p:spPr>
          <a:xfrm>
            <a:off x="10528368" y="6558247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Reflect on past hesitations to learn patterns</a:t>
            </a: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7057FD67-BF00-5493-968A-7AE65EACA47C}"/>
              </a:ext>
            </a:extLst>
          </p:cNvPr>
          <p:cNvSpPr txBox="1"/>
          <p:nvPr/>
        </p:nvSpPr>
        <p:spPr>
          <a:xfrm>
            <a:off x="10528368" y="7635433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Trust your instincts as valid data points</a:t>
            </a:r>
          </a:p>
        </p:txBody>
      </p:sp>
      <p:sp>
        <p:nvSpPr>
          <p:cNvPr id="19" name="Freeform 25">
            <a:extLst>
              <a:ext uri="{FF2B5EF4-FFF2-40B4-BE49-F238E27FC236}">
                <a16:creationId xmlns:a16="http://schemas.microsoft.com/office/drawing/2014/main" id="{6A56BB15-554D-E682-EC65-9A7DEA5B8262}"/>
              </a:ext>
            </a:extLst>
          </p:cNvPr>
          <p:cNvSpPr/>
          <p:nvPr/>
        </p:nvSpPr>
        <p:spPr>
          <a:xfrm>
            <a:off x="9811016" y="6444829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8"/>
                </a:lnTo>
                <a:lnTo>
                  <a:pt x="0" y="39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6">
            <a:extLst>
              <a:ext uri="{FF2B5EF4-FFF2-40B4-BE49-F238E27FC236}">
                <a16:creationId xmlns:a16="http://schemas.microsoft.com/office/drawing/2014/main" id="{54A6792D-95C5-4421-50C0-C640EE750439}"/>
              </a:ext>
            </a:extLst>
          </p:cNvPr>
          <p:cNvSpPr/>
          <p:nvPr/>
        </p:nvSpPr>
        <p:spPr>
          <a:xfrm>
            <a:off x="9811016" y="7593691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9"/>
                </a:lnTo>
                <a:lnTo>
                  <a:pt x="0" y="39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21" name="Google Shape;85;p1">
            <a:extLst>
              <a:ext uri="{FF2B5EF4-FFF2-40B4-BE49-F238E27FC236}">
                <a16:creationId xmlns:a16="http://schemas.microsoft.com/office/drawing/2014/main" id="{F6F8E8DA-E5D2-4012-F32A-A5A923168135}"/>
              </a:ext>
            </a:extLst>
          </p:cNvPr>
          <p:cNvCxnSpPr/>
          <p:nvPr/>
        </p:nvCxnSpPr>
        <p:spPr>
          <a:xfrm>
            <a:off x="1085700" y="8004402"/>
            <a:ext cx="4446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7311017F-6ADC-41F6-6C4E-64F065827AB1}"/>
              </a:ext>
            </a:extLst>
          </p:cNvPr>
          <p:cNvSpPr txBox="1"/>
          <p:nvPr/>
        </p:nvSpPr>
        <p:spPr>
          <a:xfrm>
            <a:off x="1085700" y="7255490"/>
            <a:ext cx="80583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Practical steps to strengthen decision-making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0613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54A97-030F-ABF5-BBC1-AEAC79CD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9;g3e69c54ea80_1_141">
            <a:extLst>
              <a:ext uri="{FF2B5EF4-FFF2-40B4-BE49-F238E27FC236}">
                <a16:creationId xmlns:a16="http://schemas.microsoft.com/office/drawing/2014/main" id="{C55CBEB1-98B3-E49B-A249-6A346FA93CC2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20;g3e69c54ea80_1_141">
            <a:extLst>
              <a:ext uri="{FF2B5EF4-FFF2-40B4-BE49-F238E27FC236}">
                <a16:creationId xmlns:a16="http://schemas.microsoft.com/office/drawing/2014/main" id="{ECA7A7AC-3C0D-148C-4BD1-2C30FCDE30DF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21;g3e69c54ea80_1_141">
            <a:extLst>
              <a:ext uri="{FF2B5EF4-FFF2-40B4-BE49-F238E27FC236}">
                <a16:creationId xmlns:a16="http://schemas.microsoft.com/office/drawing/2014/main" id="{C4C721E0-709E-ED87-9175-7C695E8B3F51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5" name="Google Shape;122;g3e69c54ea80_1_141">
            <a:extLst>
              <a:ext uri="{FF2B5EF4-FFF2-40B4-BE49-F238E27FC236}">
                <a16:creationId xmlns:a16="http://schemas.microsoft.com/office/drawing/2014/main" id="{30376072-3584-D41D-0C4B-A8E605EEE52C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23;g3e69c54ea80_1_141">
            <a:extLst>
              <a:ext uri="{FF2B5EF4-FFF2-40B4-BE49-F238E27FC236}">
                <a16:creationId xmlns:a16="http://schemas.microsoft.com/office/drawing/2014/main" id="{5EDA784E-AF8F-D6EA-C89F-8B42D447311B}"/>
              </a:ext>
            </a:extLst>
          </p:cNvPr>
          <p:cNvSpPr txBox="1"/>
          <p:nvPr/>
        </p:nvSpPr>
        <p:spPr>
          <a:xfrm>
            <a:off x="6382950" y="3962335"/>
            <a:ext cx="11271600" cy="442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0850">
              <a:lnSpc>
                <a:spcPct val="250000"/>
              </a:lnSpc>
              <a:buClr>
                <a:schemeClr val="lt1"/>
              </a:buClr>
              <a:buSzPts val="3500"/>
              <a:buChar char="·"/>
            </a:pPr>
            <a:r>
              <a:rPr lang="en-US" sz="23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 recommends equipment changes mid-season</a:t>
            </a:r>
            <a:endParaRPr lang="en-US" sz="35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450850">
              <a:lnSpc>
                <a:spcPct val="250000"/>
              </a:lnSpc>
              <a:buClr>
                <a:schemeClr val="lt1"/>
              </a:buClr>
              <a:buSzPts val="3500"/>
              <a:buChar char="·"/>
            </a:pPr>
            <a:r>
              <a:rPr lang="en-US" sz="23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System suggests ignoring weather warnings</a:t>
            </a:r>
          </a:p>
          <a:p>
            <a:pPr marL="457200" lvl="0" indent="-450850">
              <a:lnSpc>
                <a:spcPct val="250000"/>
              </a:lnSpc>
              <a:buClr>
                <a:schemeClr val="lt1"/>
              </a:buClr>
              <a:buSzPts val="3500"/>
              <a:buChar char="·"/>
            </a:pPr>
            <a:r>
              <a:rPr lang="en-US" sz="23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Algorithm proposes cost cuts affecting safety</a:t>
            </a:r>
          </a:p>
          <a:p>
            <a:pPr marL="457200" lvl="0" indent="-450850">
              <a:lnSpc>
                <a:spcPct val="250000"/>
              </a:lnSpc>
              <a:buClr>
                <a:schemeClr val="lt1"/>
              </a:buClr>
              <a:buSzPts val="3500"/>
              <a:buChar char="·"/>
            </a:pPr>
            <a:r>
              <a:rPr lang="en-US" sz="23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Automated schedule conflicts with crew limits</a:t>
            </a:r>
          </a:p>
          <a:p>
            <a:pPr marL="457200" lvl="0" indent="-450850">
              <a:lnSpc>
                <a:spcPct val="250000"/>
              </a:lnSpc>
              <a:buClr>
                <a:schemeClr val="lt1"/>
              </a:buClr>
              <a:buSzPts val="3500"/>
              <a:buChar char="·"/>
            </a:pPr>
            <a:r>
              <a:rPr lang="en-US" sz="2300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 assumes resources that aren't available</a:t>
            </a:r>
          </a:p>
        </p:txBody>
      </p:sp>
      <p:cxnSp>
        <p:nvCxnSpPr>
          <p:cNvPr id="7" name="Google Shape;124;g3e69c54ea80_1_141">
            <a:extLst>
              <a:ext uri="{FF2B5EF4-FFF2-40B4-BE49-F238E27FC236}">
                <a16:creationId xmlns:a16="http://schemas.microsoft.com/office/drawing/2014/main" id="{2DA8F003-8737-678C-C130-99AB6674DB07}"/>
              </a:ext>
            </a:extLst>
          </p:cNvPr>
          <p:cNvCxnSpPr/>
          <p:nvPr/>
        </p:nvCxnSpPr>
        <p:spPr>
          <a:xfrm>
            <a:off x="868113" y="9744461"/>
            <a:ext cx="4446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25;g3e69c54ea80_1_141">
            <a:extLst>
              <a:ext uri="{FF2B5EF4-FFF2-40B4-BE49-F238E27FC236}">
                <a16:creationId xmlns:a16="http://schemas.microsoft.com/office/drawing/2014/main" id="{BA8B1B87-2C62-3396-C357-824DC63F34B2}"/>
              </a:ext>
            </a:extLst>
          </p:cNvPr>
          <p:cNvSpPr txBox="1"/>
          <p:nvPr/>
        </p:nvSpPr>
        <p:spPr>
          <a:xfrm>
            <a:off x="6502053" y="2065955"/>
            <a:ext cx="10287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8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Scenario Practice: Field Decisions</a:t>
            </a:r>
            <a:endParaRPr sz="300" dirty="0"/>
          </a:p>
        </p:txBody>
      </p:sp>
      <p:sp>
        <p:nvSpPr>
          <p:cNvPr id="9" name="Google Shape;126;g3e69c54ea80_1_141">
            <a:extLst>
              <a:ext uri="{FF2B5EF4-FFF2-40B4-BE49-F238E27FC236}">
                <a16:creationId xmlns:a16="http://schemas.microsoft.com/office/drawing/2014/main" id="{457EEE43-1197-7D45-6E40-E372C579B53D}"/>
              </a:ext>
            </a:extLst>
          </p:cNvPr>
          <p:cNvSpPr txBox="1"/>
          <p:nvPr/>
        </p:nvSpPr>
        <p:spPr>
          <a:xfrm>
            <a:off x="6579753" y="3159374"/>
            <a:ext cx="101316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3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Applying override judgement to real situations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" name="Google Shape;127;g3e69c54ea80_1_141">
            <a:extLst>
              <a:ext uri="{FF2B5EF4-FFF2-40B4-BE49-F238E27FC236}">
                <a16:creationId xmlns:a16="http://schemas.microsoft.com/office/drawing/2014/main" id="{5DCDD406-8C91-E868-ECAF-FBE3173AB3EF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38" t="-888" r="27160" b="888"/>
          <a:stretch>
            <a:fillRect/>
          </a:stretch>
        </p:blipFill>
        <p:spPr>
          <a:xfrm>
            <a:off x="707525" y="2789175"/>
            <a:ext cx="4767900" cy="6412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438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80C92-F7C7-D73F-4FB2-E673A40E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>
            <a:extLst>
              <a:ext uri="{FF2B5EF4-FFF2-40B4-BE49-F238E27FC236}">
                <a16:creationId xmlns:a16="http://schemas.microsoft.com/office/drawing/2014/main" id="{B753F96B-1366-904D-95DD-4B858DCDC21E}"/>
              </a:ext>
            </a:extLst>
          </p:cNvPr>
          <p:cNvSpPr txBox="1"/>
          <p:nvPr/>
        </p:nvSpPr>
        <p:spPr>
          <a:xfrm>
            <a:off x="1028700" y="2783527"/>
            <a:ext cx="6749849" cy="267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en-US" sz="80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What to Remember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A0CF9EF-CA13-5AE1-8019-9FDF9A1AA4A3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7C77B22B-81E9-D882-C7DC-A400765A4E86}"/>
              </a:ext>
            </a:extLst>
          </p:cNvPr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DF471F4-8991-07CD-481D-7C91C4824236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016F49-4EA6-E83C-1A57-0D5D57BEDF6D}"/>
              </a:ext>
            </a:extLst>
          </p:cNvPr>
          <p:cNvSpPr txBox="1"/>
          <p:nvPr/>
        </p:nvSpPr>
        <p:spPr>
          <a:xfrm>
            <a:off x="9144000" y="2783527"/>
            <a:ext cx="8115300" cy="5384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AI makes mistakes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Humans catch what AI misses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Context matters most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Trust your instincts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Step in early, step in often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You are the final check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41D245B8-AF97-110E-C3BD-FEADBB19E482}"/>
              </a:ext>
            </a:extLst>
          </p:cNvPr>
          <p:cNvSpPr/>
          <p:nvPr/>
        </p:nvSpPr>
        <p:spPr>
          <a:xfrm>
            <a:off x="1085745" y="7611937"/>
            <a:ext cx="4446467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65BA5948-A775-BA7C-8C71-8FC30454EAD0}"/>
              </a:ext>
            </a:extLst>
          </p:cNvPr>
          <p:cNvSpPr txBox="1"/>
          <p:nvPr/>
        </p:nvSpPr>
        <p:spPr>
          <a:xfrm>
            <a:off x="1085745" y="7008145"/>
            <a:ext cx="8058255" cy="41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The essentials worth keeping in mind</a:t>
            </a:r>
          </a:p>
        </p:txBody>
      </p:sp>
      <p:sp>
        <p:nvSpPr>
          <p:cNvPr id="2" name="Google Shape;121;g3e69c54ea80_1_141">
            <a:extLst>
              <a:ext uri="{FF2B5EF4-FFF2-40B4-BE49-F238E27FC236}">
                <a16:creationId xmlns:a16="http://schemas.microsoft.com/office/drawing/2014/main" id="{D74B8924-5F9A-A239-567D-A498ED6DB58C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Human Override: Knowing When to Step In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</p:spTree>
    <p:extLst>
      <p:ext uri="{BB962C8B-B14F-4D97-AF65-F5344CB8AC3E}">
        <p14:creationId xmlns:p14="http://schemas.microsoft.com/office/powerpoint/2010/main" val="354167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391</Words>
  <Application>Microsoft Office PowerPoint</Application>
  <PresentationFormat>Custom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Libre Franklin Thin</vt:lpstr>
      <vt:lpstr>Libre Franklin</vt:lpstr>
      <vt:lpstr>Libre Franklin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AISEC Course Slides</dc:title>
  <dc:creator>Kaisha's Rig</dc:creator>
  <cp:lastModifiedBy>Kaisha Balkish</cp:lastModifiedBy>
  <cp:revision>27</cp:revision>
  <dcterms:created xsi:type="dcterms:W3CDTF">2006-08-16T00:00:00Z</dcterms:created>
  <dcterms:modified xsi:type="dcterms:W3CDTF">2026-05-07T09:57:25Z</dcterms:modified>
  <dc:identifier>DAGxKB2NCss</dc:identifier>
</cp:coreProperties>
</file>