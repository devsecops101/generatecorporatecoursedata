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0" r:id="rId3"/>
    <p:sldId id="259" r:id="rId4"/>
    <p:sldId id="320" r:id="rId5"/>
    <p:sldId id="317" r:id="rId6"/>
    <p:sldId id="322" r:id="rId7"/>
    <p:sldId id="314" r:id="rId8"/>
    <p:sldId id="323" r:id="rId9"/>
    <p:sldId id="318" r:id="rId10"/>
  </p:sldIdLst>
  <p:sldSz cx="18288000" cy="10287000"/>
  <p:notesSz cx="6858000" cy="9144000"/>
  <p:embeddedFontLst>
    <p:embeddedFont>
      <p:font typeface="Libre Franklin" pitchFamily="2" charset="0"/>
      <p:regular r:id="rId11"/>
      <p:bold r:id="rId12"/>
      <p:italic r:id="rId13"/>
      <p:boldItalic r:id="rId14"/>
    </p:embeddedFont>
    <p:embeddedFont>
      <p:font typeface="Libre Franklin Light" pitchFamily="2" charset="0"/>
      <p:regular r:id="rId15"/>
      <p:italic r:id="rId16"/>
    </p:embeddedFont>
    <p:embeddedFont>
      <p:font typeface="Libre Franklin Medium" pitchFamily="2" charset="0"/>
      <p:regular r:id="rId17"/>
      <p:italic r:id="rId18"/>
    </p:embeddedFont>
    <p:embeddedFont>
      <p:font typeface="Libre Franklin Thin" pitchFamily="2" charset="0"/>
      <p:regular r:id="rId19"/>
      <p: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375E"/>
    <a:srgbClr val="2C4D76"/>
    <a:srgbClr val="4476B2"/>
    <a:srgbClr val="3F6EA7"/>
    <a:srgbClr val="5CB6F9"/>
    <a:srgbClr val="3964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13" autoAdjust="0"/>
    <p:restoredTop sz="94682" autoAdjust="0"/>
  </p:normalViewPr>
  <p:slideViewPr>
    <p:cSldViewPr>
      <p:cViewPr>
        <p:scale>
          <a:sx n="50" d="100"/>
          <a:sy n="50" d="100"/>
        </p:scale>
        <p:origin x="797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54D13B-7DB9-4388-A9B0-05D1D248EB05}" type="doc">
      <dgm:prSet loTypeId="urn:microsoft.com/office/officeart/2016/7/layout/VerticalDownArrow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280D9D9-3027-4A96-93C0-DBC77FB87833}">
      <dgm:prSet custT="1"/>
      <dgm:spPr>
        <a:solidFill>
          <a:schemeClr val="tx2">
            <a:lumMod val="75000"/>
          </a:schemeClr>
        </a:solidFill>
        <a:ln>
          <a:solidFill>
            <a:srgbClr val="17375E"/>
          </a:solidFill>
        </a:ln>
      </dgm:spPr>
      <dgm:t>
        <a:bodyPr/>
        <a:lstStyle/>
        <a:p>
          <a:r>
            <a:rPr lang="en-US" sz="2800" dirty="0">
              <a:latin typeface="Libre Franklin Medium" pitchFamily="2" charset="0"/>
            </a:rPr>
            <a:t>Identify</a:t>
          </a:r>
        </a:p>
      </dgm:t>
    </dgm:pt>
    <dgm:pt modelId="{CE93F91D-2564-4991-811A-29614BB3CCFC}" type="parTrans" cxnId="{E27A20CE-8C6F-450F-9D8A-8D7D7F587E32}">
      <dgm:prSet/>
      <dgm:spPr/>
      <dgm:t>
        <a:bodyPr/>
        <a:lstStyle/>
        <a:p>
          <a:endParaRPr lang="en-US"/>
        </a:p>
      </dgm:t>
    </dgm:pt>
    <dgm:pt modelId="{8F049E84-730F-4E91-876E-06827E4CD0B7}" type="sibTrans" cxnId="{E27A20CE-8C6F-450F-9D8A-8D7D7F587E32}">
      <dgm:prSet/>
      <dgm:spPr/>
      <dgm:t>
        <a:bodyPr/>
        <a:lstStyle/>
        <a:p>
          <a:endParaRPr lang="en-US"/>
        </a:p>
      </dgm:t>
    </dgm:pt>
    <dgm:pt modelId="{06372D69-8BEB-4779-8A67-50F21F7005FC}">
      <dgm:prSet custT="1"/>
      <dgm:spPr/>
      <dgm:t>
        <a:bodyPr/>
        <a:lstStyle/>
        <a:p>
          <a:r>
            <a:rPr lang="en-US" sz="2400" dirty="0">
              <a:latin typeface="Libre Franklin Medium" pitchFamily="2" charset="0"/>
            </a:rPr>
            <a:t>Identify corrupted data sources first</a:t>
          </a:r>
        </a:p>
      </dgm:t>
    </dgm:pt>
    <dgm:pt modelId="{4F7BC069-63F5-4ADB-BB0B-64F9BD378E3A}" type="parTrans" cxnId="{9340FA1A-ED30-4E66-9C12-FCD09853F4A0}">
      <dgm:prSet/>
      <dgm:spPr/>
      <dgm:t>
        <a:bodyPr/>
        <a:lstStyle/>
        <a:p>
          <a:endParaRPr lang="en-US"/>
        </a:p>
      </dgm:t>
    </dgm:pt>
    <dgm:pt modelId="{13D97719-FCF0-46F6-B942-931626715B76}" type="sibTrans" cxnId="{9340FA1A-ED30-4E66-9C12-FCD09853F4A0}">
      <dgm:prSet/>
      <dgm:spPr/>
      <dgm:t>
        <a:bodyPr/>
        <a:lstStyle/>
        <a:p>
          <a:endParaRPr lang="en-US"/>
        </a:p>
      </dgm:t>
    </dgm:pt>
    <dgm:pt modelId="{8CF91FFE-43D4-4EC5-B55F-680B6EF85888}">
      <dgm:prSet custT="1"/>
      <dgm:spPr>
        <a:solidFill>
          <a:srgbClr val="2C4D76"/>
        </a:solidFill>
        <a:ln>
          <a:solidFill>
            <a:srgbClr val="2C4D76"/>
          </a:solidFill>
        </a:ln>
      </dgm:spPr>
      <dgm:t>
        <a:bodyPr/>
        <a:lstStyle/>
        <a:p>
          <a:r>
            <a:rPr lang="en-US" sz="2800">
              <a:latin typeface="Libre Franklin Medium" pitchFamily="2" charset="0"/>
            </a:rPr>
            <a:t>Use</a:t>
          </a:r>
        </a:p>
      </dgm:t>
    </dgm:pt>
    <dgm:pt modelId="{6CCD547E-FDE8-48EB-8F86-026A3739F548}" type="parTrans" cxnId="{D4AED6FE-FAD3-4214-8226-270AF80244FF}">
      <dgm:prSet/>
      <dgm:spPr/>
      <dgm:t>
        <a:bodyPr/>
        <a:lstStyle/>
        <a:p>
          <a:endParaRPr lang="en-US"/>
        </a:p>
      </dgm:t>
    </dgm:pt>
    <dgm:pt modelId="{58248E02-C562-4D79-958E-727A86C3056B}" type="sibTrans" cxnId="{D4AED6FE-FAD3-4214-8226-270AF80244FF}">
      <dgm:prSet/>
      <dgm:spPr/>
      <dgm:t>
        <a:bodyPr/>
        <a:lstStyle/>
        <a:p>
          <a:endParaRPr lang="en-US"/>
        </a:p>
      </dgm:t>
    </dgm:pt>
    <dgm:pt modelId="{175CD7B0-EC19-4E6D-BE1D-C90573D90D9F}">
      <dgm:prSet custT="1"/>
      <dgm:spPr/>
      <dgm:t>
        <a:bodyPr/>
        <a:lstStyle/>
        <a:p>
          <a:r>
            <a:rPr lang="en-US" sz="2400" dirty="0">
              <a:latin typeface="Libre Franklin Medium" pitchFamily="2" charset="0"/>
            </a:rPr>
            <a:t>Use backup streams to fill gaps</a:t>
          </a:r>
        </a:p>
      </dgm:t>
    </dgm:pt>
    <dgm:pt modelId="{6061F7A3-43DF-4BD8-9280-6C7150422C37}" type="parTrans" cxnId="{4ECC69B9-5BED-4E3A-9123-FE5B2EF52321}">
      <dgm:prSet/>
      <dgm:spPr/>
      <dgm:t>
        <a:bodyPr/>
        <a:lstStyle/>
        <a:p>
          <a:endParaRPr lang="en-US"/>
        </a:p>
      </dgm:t>
    </dgm:pt>
    <dgm:pt modelId="{4B4EA534-20D4-41E7-864E-F032E8D42A18}" type="sibTrans" cxnId="{4ECC69B9-5BED-4E3A-9123-FE5B2EF52321}">
      <dgm:prSet/>
      <dgm:spPr/>
      <dgm:t>
        <a:bodyPr/>
        <a:lstStyle/>
        <a:p>
          <a:endParaRPr lang="en-US"/>
        </a:p>
      </dgm:t>
    </dgm:pt>
    <dgm:pt modelId="{CD9570C4-230A-4453-A44D-998F1DA55CD9}">
      <dgm:prSet custT="1"/>
      <dgm:spPr>
        <a:solidFill>
          <a:srgbClr val="396497"/>
        </a:solidFill>
        <a:ln>
          <a:solidFill>
            <a:srgbClr val="3F6EA7"/>
          </a:solidFill>
        </a:ln>
      </dgm:spPr>
      <dgm:t>
        <a:bodyPr/>
        <a:lstStyle/>
        <a:p>
          <a:r>
            <a:rPr lang="en-US" sz="2800">
              <a:latin typeface="Libre Franklin Medium" pitchFamily="2" charset="0"/>
            </a:rPr>
            <a:t>Flag</a:t>
          </a:r>
        </a:p>
      </dgm:t>
    </dgm:pt>
    <dgm:pt modelId="{FFABFFDD-19CC-4503-BC60-1EC89E36F3ED}" type="parTrans" cxnId="{303B69F4-07AA-4EF8-8CB6-D3F3690175F1}">
      <dgm:prSet/>
      <dgm:spPr/>
      <dgm:t>
        <a:bodyPr/>
        <a:lstStyle/>
        <a:p>
          <a:endParaRPr lang="en-US"/>
        </a:p>
      </dgm:t>
    </dgm:pt>
    <dgm:pt modelId="{01B2D05E-BAAE-4B72-BF60-600EA4D5C4DB}" type="sibTrans" cxnId="{303B69F4-07AA-4EF8-8CB6-D3F3690175F1}">
      <dgm:prSet/>
      <dgm:spPr/>
      <dgm:t>
        <a:bodyPr/>
        <a:lstStyle/>
        <a:p>
          <a:endParaRPr lang="en-US"/>
        </a:p>
      </dgm:t>
    </dgm:pt>
    <dgm:pt modelId="{34776068-571E-436A-B55A-47A2AD861BB0}">
      <dgm:prSet custT="1"/>
      <dgm:spPr/>
      <dgm:t>
        <a:bodyPr/>
        <a:lstStyle/>
        <a:p>
          <a:r>
            <a:rPr lang="en-US" sz="2400" dirty="0">
              <a:latin typeface="Libre Franklin Medium" pitchFamily="2" charset="0"/>
            </a:rPr>
            <a:t>Flag suspect records, don't delete them</a:t>
          </a:r>
        </a:p>
      </dgm:t>
    </dgm:pt>
    <dgm:pt modelId="{78C3EA3F-1932-4E80-8841-23D98393DCAA}" type="parTrans" cxnId="{F9C56155-41C6-4D86-A345-CC370CD0FC6B}">
      <dgm:prSet/>
      <dgm:spPr/>
      <dgm:t>
        <a:bodyPr/>
        <a:lstStyle/>
        <a:p>
          <a:endParaRPr lang="en-US"/>
        </a:p>
      </dgm:t>
    </dgm:pt>
    <dgm:pt modelId="{1905A289-ADB9-4562-B928-0565FFF415C3}" type="sibTrans" cxnId="{F9C56155-41C6-4D86-A345-CC370CD0FC6B}">
      <dgm:prSet/>
      <dgm:spPr/>
      <dgm:t>
        <a:bodyPr/>
        <a:lstStyle/>
        <a:p>
          <a:endParaRPr lang="en-US"/>
        </a:p>
      </dgm:t>
    </dgm:pt>
    <dgm:pt modelId="{6496B192-077E-4A11-9B2B-1492D642FCCE}">
      <dgm:prSet custT="1"/>
      <dgm:spPr>
        <a:solidFill>
          <a:srgbClr val="3F6EA7"/>
        </a:solidFill>
        <a:ln>
          <a:solidFill>
            <a:srgbClr val="3F6EA7"/>
          </a:solidFill>
        </a:ln>
      </dgm:spPr>
      <dgm:t>
        <a:bodyPr/>
        <a:lstStyle/>
        <a:p>
          <a:r>
            <a:rPr lang="en-US" sz="2800">
              <a:latin typeface="Libre Franklin Medium" pitchFamily="2" charset="0"/>
            </a:rPr>
            <a:t>Retrain</a:t>
          </a:r>
        </a:p>
      </dgm:t>
    </dgm:pt>
    <dgm:pt modelId="{27916C0F-416C-4B8E-B3D2-01090D4BC0C0}" type="parTrans" cxnId="{8EA7AD66-EF7C-4FE2-A0EE-9EB6C0815245}">
      <dgm:prSet/>
      <dgm:spPr/>
      <dgm:t>
        <a:bodyPr/>
        <a:lstStyle/>
        <a:p>
          <a:endParaRPr lang="en-US"/>
        </a:p>
      </dgm:t>
    </dgm:pt>
    <dgm:pt modelId="{869EC0EB-231D-4A7B-B99E-8F8C3C711952}" type="sibTrans" cxnId="{8EA7AD66-EF7C-4FE2-A0EE-9EB6C0815245}">
      <dgm:prSet/>
      <dgm:spPr/>
      <dgm:t>
        <a:bodyPr/>
        <a:lstStyle/>
        <a:p>
          <a:endParaRPr lang="en-US"/>
        </a:p>
      </dgm:t>
    </dgm:pt>
    <dgm:pt modelId="{736F50E3-D1B2-4235-B0C1-049544C8311D}">
      <dgm:prSet custT="1"/>
      <dgm:spPr/>
      <dgm:t>
        <a:bodyPr/>
        <a:lstStyle/>
        <a:p>
          <a:r>
            <a:rPr lang="en-US" sz="2400" dirty="0">
              <a:latin typeface="Libre Franklin Medium" pitchFamily="2" charset="0"/>
            </a:rPr>
            <a:t>Retrain models on cleaned datasets</a:t>
          </a:r>
        </a:p>
      </dgm:t>
    </dgm:pt>
    <dgm:pt modelId="{530D853D-AB73-4B0B-94B5-99D2D8373B2A}" type="parTrans" cxnId="{66742D0E-6F89-4E84-B3CD-F622FC93401E}">
      <dgm:prSet/>
      <dgm:spPr/>
      <dgm:t>
        <a:bodyPr/>
        <a:lstStyle/>
        <a:p>
          <a:endParaRPr lang="en-US"/>
        </a:p>
      </dgm:t>
    </dgm:pt>
    <dgm:pt modelId="{F0413F71-3D9F-4210-95D9-1A0B3DFB7912}" type="sibTrans" cxnId="{66742D0E-6F89-4E84-B3CD-F622FC93401E}">
      <dgm:prSet/>
      <dgm:spPr/>
      <dgm:t>
        <a:bodyPr/>
        <a:lstStyle/>
        <a:p>
          <a:endParaRPr lang="en-US"/>
        </a:p>
      </dgm:t>
    </dgm:pt>
    <dgm:pt modelId="{CF97B02B-40EF-497F-9C92-FCA052419796}">
      <dgm:prSet custT="1"/>
      <dgm:spPr>
        <a:solidFill>
          <a:srgbClr val="4476B2"/>
        </a:solidFill>
        <a:ln>
          <a:solidFill>
            <a:srgbClr val="4476B2"/>
          </a:solidFill>
        </a:ln>
      </dgm:spPr>
      <dgm:t>
        <a:bodyPr/>
        <a:lstStyle/>
        <a:p>
          <a:r>
            <a:rPr lang="en-US" sz="2800" dirty="0">
              <a:latin typeface="Libre Franklin Medium" pitchFamily="2" charset="0"/>
            </a:rPr>
            <a:t>Document</a:t>
          </a:r>
        </a:p>
      </dgm:t>
    </dgm:pt>
    <dgm:pt modelId="{77F46C2E-875F-47A0-B02E-7DBD7D7238F4}" type="parTrans" cxnId="{69A0192E-3981-4FF4-B7A0-81879E0272FF}">
      <dgm:prSet/>
      <dgm:spPr/>
      <dgm:t>
        <a:bodyPr/>
        <a:lstStyle/>
        <a:p>
          <a:endParaRPr lang="en-US"/>
        </a:p>
      </dgm:t>
    </dgm:pt>
    <dgm:pt modelId="{C9C9F3F8-A263-4CE3-B947-EC4294996A6A}" type="sibTrans" cxnId="{69A0192E-3981-4FF4-B7A0-81879E0272FF}">
      <dgm:prSet/>
      <dgm:spPr/>
      <dgm:t>
        <a:bodyPr/>
        <a:lstStyle/>
        <a:p>
          <a:endParaRPr lang="en-US"/>
        </a:p>
      </dgm:t>
    </dgm:pt>
    <dgm:pt modelId="{6AC8CC4E-BD27-4592-916E-CDE6E763A323}">
      <dgm:prSet custT="1"/>
      <dgm:spPr/>
      <dgm:t>
        <a:bodyPr/>
        <a:lstStyle/>
        <a:p>
          <a:r>
            <a:rPr lang="en-US" sz="2400" dirty="0">
              <a:latin typeface="Libre Franklin Medium" pitchFamily="2" charset="0"/>
            </a:rPr>
            <a:t>Document all recovery steps thoroughly</a:t>
          </a:r>
        </a:p>
      </dgm:t>
    </dgm:pt>
    <dgm:pt modelId="{9F4F8B54-4592-4089-A288-5E7AC6E2F078}" type="parTrans" cxnId="{1DDEFD97-5711-44C3-B7A3-A886576B8FF5}">
      <dgm:prSet/>
      <dgm:spPr/>
      <dgm:t>
        <a:bodyPr/>
        <a:lstStyle/>
        <a:p>
          <a:endParaRPr lang="en-US"/>
        </a:p>
      </dgm:t>
    </dgm:pt>
    <dgm:pt modelId="{0B4ACB1D-5AE7-4EF8-A5A3-2240440A3235}" type="sibTrans" cxnId="{1DDEFD97-5711-44C3-B7A3-A886576B8FF5}">
      <dgm:prSet/>
      <dgm:spPr/>
      <dgm:t>
        <a:bodyPr/>
        <a:lstStyle/>
        <a:p>
          <a:endParaRPr lang="en-US"/>
        </a:p>
      </dgm:t>
    </dgm:pt>
    <dgm:pt modelId="{3C824808-F9D8-4E5E-B92C-9567D11999F5}" type="pres">
      <dgm:prSet presAssocID="{3854D13B-7DB9-4388-A9B0-05D1D248EB05}" presName="Name0" presStyleCnt="0">
        <dgm:presLayoutVars>
          <dgm:dir/>
          <dgm:animLvl val="lvl"/>
          <dgm:resizeHandles val="exact"/>
        </dgm:presLayoutVars>
      </dgm:prSet>
      <dgm:spPr/>
    </dgm:pt>
    <dgm:pt modelId="{6781128D-1F10-4D11-BDFA-25C01BD1AEB6}" type="pres">
      <dgm:prSet presAssocID="{CF97B02B-40EF-497F-9C92-FCA052419796}" presName="boxAndChildren" presStyleCnt="0"/>
      <dgm:spPr/>
    </dgm:pt>
    <dgm:pt modelId="{C317591D-A482-4CF4-A013-217BF665B32C}" type="pres">
      <dgm:prSet presAssocID="{CF97B02B-40EF-497F-9C92-FCA052419796}" presName="parentTextBox" presStyleLbl="alignNode1" presStyleIdx="0" presStyleCnt="5"/>
      <dgm:spPr/>
    </dgm:pt>
    <dgm:pt modelId="{6D8D5A4A-04BB-4B54-B517-DFB9D6A8BBE6}" type="pres">
      <dgm:prSet presAssocID="{CF97B02B-40EF-497F-9C92-FCA052419796}" presName="descendantBox" presStyleLbl="bgAccFollowNode1" presStyleIdx="0" presStyleCnt="5"/>
      <dgm:spPr>
        <a:prstGeom prst="round1Rect">
          <a:avLst/>
        </a:prstGeom>
      </dgm:spPr>
    </dgm:pt>
    <dgm:pt modelId="{A54EA8A6-58BD-46A2-838C-8F9872FC70F2}" type="pres">
      <dgm:prSet presAssocID="{869EC0EB-231D-4A7B-B99E-8F8C3C711952}" presName="sp" presStyleCnt="0"/>
      <dgm:spPr/>
    </dgm:pt>
    <dgm:pt modelId="{784D076F-D774-42E7-91C2-8383C31BD044}" type="pres">
      <dgm:prSet presAssocID="{6496B192-077E-4A11-9B2B-1492D642FCCE}" presName="arrowAndChildren" presStyleCnt="0"/>
      <dgm:spPr/>
    </dgm:pt>
    <dgm:pt modelId="{108FE073-7D75-4B23-B8C0-E9E85BBB5F41}" type="pres">
      <dgm:prSet presAssocID="{6496B192-077E-4A11-9B2B-1492D642FCCE}" presName="parentTextArrow" presStyleLbl="node1" presStyleIdx="0" presStyleCnt="0"/>
      <dgm:spPr/>
    </dgm:pt>
    <dgm:pt modelId="{85A8B51E-DF94-4653-994E-C54B7847CED6}" type="pres">
      <dgm:prSet presAssocID="{6496B192-077E-4A11-9B2B-1492D642FCCE}" presName="arrow" presStyleLbl="alignNode1" presStyleIdx="1" presStyleCnt="5"/>
      <dgm:spPr/>
    </dgm:pt>
    <dgm:pt modelId="{E9F91764-3986-465B-806E-FC1631176648}" type="pres">
      <dgm:prSet presAssocID="{6496B192-077E-4A11-9B2B-1492D642FCCE}" presName="descendantArrow" presStyleLbl="bgAccFollowNode1" presStyleIdx="1" presStyleCnt="5"/>
      <dgm:spPr>
        <a:prstGeom prst="round1Rect">
          <a:avLst/>
        </a:prstGeom>
      </dgm:spPr>
    </dgm:pt>
    <dgm:pt modelId="{C3B7BA01-4C66-4642-8A49-B5C7260C6F24}" type="pres">
      <dgm:prSet presAssocID="{01B2D05E-BAAE-4B72-BF60-600EA4D5C4DB}" presName="sp" presStyleCnt="0"/>
      <dgm:spPr/>
    </dgm:pt>
    <dgm:pt modelId="{B0BDDD8F-6A96-428E-8A50-874344EF40F6}" type="pres">
      <dgm:prSet presAssocID="{CD9570C4-230A-4453-A44D-998F1DA55CD9}" presName="arrowAndChildren" presStyleCnt="0"/>
      <dgm:spPr/>
    </dgm:pt>
    <dgm:pt modelId="{221697C3-492F-400A-AFD2-1052265B013A}" type="pres">
      <dgm:prSet presAssocID="{CD9570C4-230A-4453-A44D-998F1DA55CD9}" presName="parentTextArrow" presStyleLbl="node1" presStyleIdx="0" presStyleCnt="0"/>
      <dgm:spPr/>
    </dgm:pt>
    <dgm:pt modelId="{52116A36-272B-4FDA-BAD6-B83DB1221AC5}" type="pres">
      <dgm:prSet presAssocID="{CD9570C4-230A-4453-A44D-998F1DA55CD9}" presName="arrow" presStyleLbl="alignNode1" presStyleIdx="2" presStyleCnt="5"/>
      <dgm:spPr/>
    </dgm:pt>
    <dgm:pt modelId="{92B6DA07-37CB-4C36-84CB-62D49552854F}" type="pres">
      <dgm:prSet presAssocID="{CD9570C4-230A-4453-A44D-998F1DA55CD9}" presName="descendantArrow" presStyleLbl="bgAccFollowNode1" presStyleIdx="2" presStyleCnt="5"/>
      <dgm:spPr>
        <a:prstGeom prst="round1Rect">
          <a:avLst/>
        </a:prstGeom>
      </dgm:spPr>
    </dgm:pt>
    <dgm:pt modelId="{C23E5C73-E3E6-4114-B5F5-20E517FF2586}" type="pres">
      <dgm:prSet presAssocID="{58248E02-C562-4D79-958E-727A86C3056B}" presName="sp" presStyleCnt="0"/>
      <dgm:spPr/>
    </dgm:pt>
    <dgm:pt modelId="{488AAA64-B53C-4D6F-A5F3-1F924865E47C}" type="pres">
      <dgm:prSet presAssocID="{8CF91FFE-43D4-4EC5-B55F-680B6EF85888}" presName="arrowAndChildren" presStyleCnt="0"/>
      <dgm:spPr/>
    </dgm:pt>
    <dgm:pt modelId="{64F62085-A0BB-4065-8E17-CCC397BE181F}" type="pres">
      <dgm:prSet presAssocID="{8CF91FFE-43D4-4EC5-B55F-680B6EF85888}" presName="parentTextArrow" presStyleLbl="node1" presStyleIdx="0" presStyleCnt="0"/>
      <dgm:spPr/>
    </dgm:pt>
    <dgm:pt modelId="{0194A73C-4485-4244-A135-3E007A1C6585}" type="pres">
      <dgm:prSet presAssocID="{8CF91FFE-43D4-4EC5-B55F-680B6EF85888}" presName="arrow" presStyleLbl="alignNode1" presStyleIdx="3" presStyleCnt="5"/>
      <dgm:spPr/>
    </dgm:pt>
    <dgm:pt modelId="{E83FCEC6-58BD-48A7-987B-0BE1DB2BF8BB}" type="pres">
      <dgm:prSet presAssocID="{8CF91FFE-43D4-4EC5-B55F-680B6EF85888}" presName="descendantArrow" presStyleLbl="bgAccFollowNode1" presStyleIdx="3" presStyleCnt="5"/>
      <dgm:spPr>
        <a:prstGeom prst="round1Rect">
          <a:avLst/>
        </a:prstGeom>
      </dgm:spPr>
    </dgm:pt>
    <dgm:pt modelId="{2DE6698F-E1D3-40AB-BB85-61732CF5F73A}" type="pres">
      <dgm:prSet presAssocID="{8F049E84-730F-4E91-876E-06827E4CD0B7}" presName="sp" presStyleCnt="0"/>
      <dgm:spPr/>
    </dgm:pt>
    <dgm:pt modelId="{B533F9F3-E90E-41E5-944B-B3E48A340832}" type="pres">
      <dgm:prSet presAssocID="{B280D9D9-3027-4A96-93C0-DBC77FB87833}" presName="arrowAndChildren" presStyleCnt="0"/>
      <dgm:spPr/>
    </dgm:pt>
    <dgm:pt modelId="{D8E87C34-5688-4612-9028-A0604A52AB3E}" type="pres">
      <dgm:prSet presAssocID="{B280D9D9-3027-4A96-93C0-DBC77FB87833}" presName="parentTextArrow" presStyleLbl="node1" presStyleIdx="0" presStyleCnt="0"/>
      <dgm:spPr/>
    </dgm:pt>
    <dgm:pt modelId="{126809AC-57BA-47EC-AB27-021EE98AB07D}" type="pres">
      <dgm:prSet presAssocID="{B280D9D9-3027-4A96-93C0-DBC77FB87833}" presName="arrow" presStyleLbl="alignNode1" presStyleIdx="4" presStyleCnt="5"/>
      <dgm:spPr/>
    </dgm:pt>
    <dgm:pt modelId="{0EB9FBBA-F370-46DF-9BB8-C9D07FE2B590}" type="pres">
      <dgm:prSet presAssocID="{B280D9D9-3027-4A96-93C0-DBC77FB87833}" presName="descendantArrow" presStyleLbl="bgAccFollowNode1" presStyleIdx="4" presStyleCnt="5"/>
      <dgm:spPr>
        <a:prstGeom prst="round1Rect">
          <a:avLst/>
        </a:prstGeom>
      </dgm:spPr>
    </dgm:pt>
  </dgm:ptLst>
  <dgm:cxnLst>
    <dgm:cxn modelId="{E096AF04-D79A-43AD-9CB9-A8BEBC5BAE50}" type="presOf" srcId="{CF97B02B-40EF-497F-9C92-FCA052419796}" destId="{C317591D-A482-4CF4-A013-217BF665B32C}" srcOrd="0" destOrd="0" presId="urn:microsoft.com/office/officeart/2016/7/layout/VerticalDownArrowProcess"/>
    <dgm:cxn modelId="{7437F105-7BB3-4FB5-BF92-F97B0DCD76D4}" type="presOf" srcId="{34776068-571E-436A-B55A-47A2AD861BB0}" destId="{92B6DA07-37CB-4C36-84CB-62D49552854F}" srcOrd="0" destOrd="0" presId="urn:microsoft.com/office/officeart/2016/7/layout/VerticalDownArrowProcess"/>
    <dgm:cxn modelId="{66742D0E-6F89-4E84-B3CD-F622FC93401E}" srcId="{6496B192-077E-4A11-9B2B-1492D642FCCE}" destId="{736F50E3-D1B2-4235-B0C1-049544C8311D}" srcOrd="0" destOrd="0" parTransId="{530D853D-AB73-4B0B-94B5-99D2D8373B2A}" sibTransId="{F0413F71-3D9F-4210-95D9-1A0B3DFB7912}"/>
    <dgm:cxn modelId="{9340FA1A-ED30-4E66-9C12-FCD09853F4A0}" srcId="{B280D9D9-3027-4A96-93C0-DBC77FB87833}" destId="{06372D69-8BEB-4779-8A67-50F21F7005FC}" srcOrd="0" destOrd="0" parTransId="{4F7BC069-63F5-4ADB-BB0B-64F9BD378E3A}" sibTransId="{13D97719-FCF0-46F6-B942-931626715B76}"/>
    <dgm:cxn modelId="{69A0192E-3981-4FF4-B7A0-81879E0272FF}" srcId="{3854D13B-7DB9-4388-A9B0-05D1D248EB05}" destId="{CF97B02B-40EF-497F-9C92-FCA052419796}" srcOrd="4" destOrd="0" parTransId="{77F46C2E-875F-47A0-B02E-7DBD7D7238F4}" sibTransId="{C9C9F3F8-A263-4CE3-B947-EC4294996A6A}"/>
    <dgm:cxn modelId="{0F4C5031-7358-4B95-948D-3D92157D2A37}" type="presOf" srcId="{B280D9D9-3027-4A96-93C0-DBC77FB87833}" destId="{126809AC-57BA-47EC-AB27-021EE98AB07D}" srcOrd="1" destOrd="0" presId="urn:microsoft.com/office/officeart/2016/7/layout/VerticalDownArrowProcess"/>
    <dgm:cxn modelId="{855F9233-14D6-49BD-9285-B0CB05D71220}" type="presOf" srcId="{8CF91FFE-43D4-4EC5-B55F-680B6EF85888}" destId="{0194A73C-4485-4244-A135-3E007A1C6585}" srcOrd="1" destOrd="0" presId="urn:microsoft.com/office/officeart/2016/7/layout/VerticalDownArrowProcess"/>
    <dgm:cxn modelId="{8EA7AD66-EF7C-4FE2-A0EE-9EB6C0815245}" srcId="{3854D13B-7DB9-4388-A9B0-05D1D248EB05}" destId="{6496B192-077E-4A11-9B2B-1492D642FCCE}" srcOrd="3" destOrd="0" parTransId="{27916C0F-416C-4B8E-B3D2-01090D4BC0C0}" sibTransId="{869EC0EB-231D-4A7B-B99E-8F8C3C711952}"/>
    <dgm:cxn modelId="{29E61448-CEBD-4246-B931-2A99BB3CAE9B}" type="presOf" srcId="{6496B192-077E-4A11-9B2B-1492D642FCCE}" destId="{85A8B51E-DF94-4653-994E-C54B7847CED6}" srcOrd="1" destOrd="0" presId="urn:microsoft.com/office/officeart/2016/7/layout/VerticalDownArrowProcess"/>
    <dgm:cxn modelId="{5DAE7B69-C6B7-47F8-9DF1-18EC14EAA2F2}" type="presOf" srcId="{8CF91FFE-43D4-4EC5-B55F-680B6EF85888}" destId="{64F62085-A0BB-4065-8E17-CCC397BE181F}" srcOrd="0" destOrd="0" presId="urn:microsoft.com/office/officeart/2016/7/layout/VerticalDownArrowProcess"/>
    <dgm:cxn modelId="{46831751-32DE-4553-A9D8-ABB40A392557}" type="presOf" srcId="{6496B192-077E-4A11-9B2B-1492D642FCCE}" destId="{108FE073-7D75-4B23-B8C0-E9E85BBB5F41}" srcOrd="0" destOrd="0" presId="urn:microsoft.com/office/officeart/2016/7/layout/VerticalDownArrowProcess"/>
    <dgm:cxn modelId="{F9C56155-41C6-4D86-A345-CC370CD0FC6B}" srcId="{CD9570C4-230A-4453-A44D-998F1DA55CD9}" destId="{34776068-571E-436A-B55A-47A2AD861BB0}" srcOrd="0" destOrd="0" parTransId="{78C3EA3F-1932-4E80-8841-23D98393DCAA}" sibTransId="{1905A289-ADB9-4562-B928-0565FFF415C3}"/>
    <dgm:cxn modelId="{F22B2C76-AAB6-4209-BABF-03E4CD48E6D2}" type="presOf" srcId="{6AC8CC4E-BD27-4592-916E-CDE6E763A323}" destId="{6D8D5A4A-04BB-4B54-B517-DFB9D6A8BBE6}" srcOrd="0" destOrd="0" presId="urn:microsoft.com/office/officeart/2016/7/layout/VerticalDownArrowProcess"/>
    <dgm:cxn modelId="{E00ED456-569C-4607-BA31-92D8363E212D}" type="presOf" srcId="{B280D9D9-3027-4A96-93C0-DBC77FB87833}" destId="{D8E87C34-5688-4612-9028-A0604A52AB3E}" srcOrd="0" destOrd="0" presId="urn:microsoft.com/office/officeart/2016/7/layout/VerticalDownArrowProcess"/>
    <dgm:cxn modelId="{F8F9ED56-B93F-4185-88ED-DD40C5F4B4B8}" type="presOf" srcId="{175CD7B0-EC19-4E6D-BE1D-C90573D90D9F}" destId="{E83FCEC6-58BD-48A7-987B-0BE1DB2BF8BB}" srcOrd="0" destOrd="0" presId="urn:microsoft.com/office/officeart/2016/7/layout/VerticalDownArrowProcess"/>
    <dgm:cxn modelId="{9023528F-91D2-4AF5-8BEB-555CD93ABDAD}" type="presOf" srcId="{3854D13B-7DB9-4388-A9B0-05D1D248EB05}" destId="{3C824808-F9D8-4E5E-B92C-9567D11999F5}" srcOrd="0" destOrd="0" presId="urn:microsoft.com/office/officeart/2016/7/layout/VerticalDownArrowProcess"/>
    <dgm:cxn modelId="{1DDEFD97-5711-44C3-B7A3-A886576B8FF5}" srcId="{CF97B02B-40EF-497F-9C92-FCA052419796}" destId="{6AC8CC4E-BD27-4592-916E-CDE6E763A323}" srcOrd="0" destOrd="0" parTransId="{9F4F8B54-4592-4089-A288-5E7AC6E2F078}" sibTransId="{0B4ACB1D-5AE7-4EF8-A5A3-2240440A3235}"/>
    <dgm:cxn modelId="{4D34379E-D248-4A90-92F6-9C2693172EBC}" type="presOf" srcId="{06372D69-8BEB-4779-8A67-50F21F7005FC}" destId="{0EB9FBBA-F370-46DF-9BB8-C9D07FE2B590}" srcOrd="0" destOrd="0" presId="urn:microsoft.com/office/officeart/2016/7/layout/VerticalDownArrowProcess"/>
    <dgm:cxn modelId="{4ECC69B9-5BED-4E3A-9123-FE5B2EF52321}" srcId="{8CF91FFE-43D4-4EC5-B55F-680B6EF85888}" destId="{175CD7B0-EC19-4E6D-BE1D-C90573D90D9F}" srcOrd="0" destOrd="0" parTransId="{6061F7A3-43DF-4BD8-9280-6C7150422C37}" sibTransId="{4B4EA534-20D4-41E7-864E-F032E8D42A18}"/>
    <dgm:cxn modelId="{1A292ABB-819A-4AE6-9140-27E6EB838F59}" type="presOf" srcId="{CD9570C4-230A-4453-A44D-998F1DA55CD9}" destId="{52116A36-272B-4FDA-BAD6-B83DB1221AC5}" srcOrd="1" destOrd="0" presId="urn:microsoft.com/office/officeart/2016/7/layout/VerticalDownArrowProcess"/>
    <dgm:cxn modelId="{E27A20CE-8C6F-450F-9D8A-8D7D7F587E32}" srcId="{3854D13B-7DB9-4388-A9B0-05D1D248EB05}" destId="{B280D9D9-3027-4A96-93C0-DBC77FB87833}" srcOrd="0" destOrd="0" parTransId="{CE93F91D-2564-4991-811A-29614BB3CCFC}" sibTransId="{8F049E84-730F-4E91-876E-06827E4CD0B7}"/>
    <dgm:cxn modelId="{B02861E2-F9DF-4618-9B10-88FCCFA0CAF2}" type="presOf" srcId="{736F50E3-D1B2-4235-B0C1-049544C8311D}" destId="{E9F91764-3986-465B-806E-FC1631176648}" srcOrd="0" destOrd="0" presId="urn:microsoft.com/office/officeart/2016/7/layout/VerticalDownArrowProcess"/>
    <dgm:cxn modelId="{78D47CE4-C08B-4408-821D-32DB22175313}" type="presOf" srcId="{CD9570C4-230A-4453-A44D-998F1DA55CD9}" destId="{221697C3-492F-400A-AFD2-1052265B013A}" srcOrd="0" destOrd="0" presId="urn:microsoft.com/office/officeart/2016/7/layout/VerticalDownArrowProcess"/>
    <dgm:cxn modelId="{303B69F4-07AA-4EF8-8CB6-D3F3690175F1}" srcId="{3854D13B-7DB9-4388-A9B0-05D1D248EB05}" destId="{CD9570C4-230A-4453-A44D-998F1DA55CD9}" srcOrd="2" destOrd="0" parTransId="{FFABFFDD-19CC-4503-BC60-1EC89E36F3ED}" sibTransId="{01B2D05E-BAAE-4B72-BF60-600EA4D5C4DB}"/>
    <dgm:cxn modelId="{D4AED6FE-FAD3-4214-8226-270AF80244FF}" srcId="{3854D13B-7DB9-4388-A9B0-05D1D248EB05}" destId="{8CF91FFE-43D4-4EC5-B55F-680B6EF85888}" srcOrd="1" destOrd="0" parTransId="{6CCD547E-FDE8-48EB-8F86-026A3739F548}" sibTransId="{58248E02-C562-4D79-958E-727A86C3056B}"/>
    <dgm:cxn modelId="{29EA3560-42D5-4531-A8BC-D14E8451C8E2}" type="presParOf" srcId="{3C824808-F9D8-4E5E-B92C-9567D11999F5}" destId="{6781128D-1F10-4D11-BDFA-25C01BD1AEB6}" srcOrd="0" destOrd="0" presId="urn:microsoft.com/office/officeart/2016/7/layout/VerticalDownArrowProcess"/>
    <dgm:cxn modelId="{4A68140F-C56F-400C-B49B-ADD92694C508}" type="presParOf" srcId="{6781128D-1F10-4D11-BDFA-25C01BD1AEB6}" destId="{C317591D-A482-4CF4-A013-217BF665B32C}" srcOrd="0" destOrd="0" presId="urn:microsoft.com/office/officeart/2016/7/layout/VerticalDownArrowProcess"/>
    <dgm:cxn modelId="{6B4E5420-A397-45F5-9D3D-A490202B63F1}" type="presParOf" srcId="{6781128D-1F10-4D11-BDFA-25C01BD1AEB6}" destId="{6D8D5A4A-04BB-4B54-B517-DFB9D6A8BBE6}" srcOrd="1" destOrd="0" presId="urn:microsoft.com/office/officeart/2016/7/layout/VerticalDownArrowProcess"/>
    <dgm:cxn modelId="{CD5299F7-76E7-4E40-BDF9-24CDB424A0AB}" type="presParOf" srcId="{3C824808-F9D8-4E5E-B92C-9567D11999F5}" destId="{A54EA8A6-58BD-46A2-838C-8F9872FC70F2}" srcOrd="1" destOrd="0" presId="urn:microsoft.com/office/officeart/2016/7/layout/VerticalDownArrowProcess"/>
    <dgm:cxn modelId="{65CBA4B7-2081-4E52-A3E3-645DEAAEA1F9}" type="presParOf" srcId="{3C824808-F9D8-4E5E-B92C-9567D11999F5}" destId="{784D076F-D774-42E7-91C2-8383C31BD044}" srcOrd="2" destOrd="0" presId="urn:microsoft.com/office/officeart/2016/7/layout/VerticalDownArrowProcess"/>
    <dgm:cxn modelId="{9A6A4FCA-54F3-4847-A147-14093CB397E6}" type="presParOf" srcId="{784D076F-D774-42E7-91C2-8383C31BD044}" destId="{108FE073-7D75-4B23-B8C0-E9E85BBB5F41}" srcOrd="0" destOrd="0" presId="urn:microsoft.com/office/officeart/2016/7/layout/VerticalDownArrowProcess"/>
    <dgm:cxn modelId="{1F53245D-57BC-4026-B3C3-3F9AB743D67F}" type="presParOf" srcId="{784D076F-D774-42E7-91C2-8383C31BD044}" destId="{85A8B51E-DF94-4653-994E-C54B7847CED6}" srcOrd="1" destOrd="0" presId="urn:microsoft.com/office/officeart/2016/7/layout/VerticalDownArrowProcess"/>
    <dgm:cxn modelId="{E2C7FFFE-451D-4EEA-9F70-E7AA0AA6689D}" type="presParOf" srcId="{784D076F-D774-42E7-91C2-8383C31BD044}" destId="{E9F91764-3986-465B-806E-FC1631176648}" srcOrd="2" destOrd="0" presId="urn:microsoft.com/office/officeart/2016/7/layout/VerticalDownArrowProcess"/>
    <dgm:cxn modelId="{611E158B-BDBF-4125-B485-BFAD0471909E}" type="presParOf" srcId="{3C824808-F9D8-4E5E-B92C-9567D11999F5}" destId="{C3B7BA01-4C66-4642-8A49-B5C7260C6F24}" srcOrd="3" destOrd="0" presId="urn:microsoft.com/office/officeart/2016/7/layout/VerticalDownArrowProcess"/>
    <dgm:cxn modelId="{BF55CF29-C461-4788-B144-DB7F88F13FF8}" type="presParOf" srcId="{3C824808-F9D8-4E5E-B92C-9567D11999F5}" destId="{B0BDDD8F-6A96-428E-8A50-874344EF40F6}" srcOrd="4" destOrd="0" presId="urn:microsoft.com/office/officeart/2016/7/layout/VerticalDownArrowProcess"/>
    <dgm:cxn modelId="{0EE39F92-6F2B-4E4D-AEA2-E38DAA2C60AB}" type="presParOf" srcId="{B0BDDD8F-6A96-428E-8A50-874344EF40F6}" destId="{221697C3-492F-400A-AFD2-1052265B013A}" srcOrd="0" destOrd="0" presId="urn:microsoft.com/office/officeart/2016/7/layout/VerticalDownArrowProcess"/>
    <dgm:cxn modelId="{55F3E2FA-0510-44FF-A9DE-1F437D4CCC45}" type="presParOf" srcId="{B0BDDD8F-6A96-428E-8A50-874344EF40F6}" destId="{52116A36-272B-4FDA-BAD6-B83DB1221AC5}" srcOrd="1" destOrd="0" presId="urn:microsoft.com/office/officeart/2016/7/layout/VerticalDownArrowProcess"/>
    <dgm:cxn modelId="{AA76F92F-5CC3-43A9-B2D5-7EDEE9EEA530}" type="presParOf" srcId="{B0BDDD8F-6A96-428E-8A50-874344EF40F6}" destId="{92B6DA07-37CB-4C36-84CB-62D49552854F}" srcOrd="2" destOrd="0" presId="urn:microsoft.com/office/officeart/2016/7/layout/VerticalDownArrowProcess"/>
    <dgm:cxn modelId="{2A4CC192-6B21-44FD-8E42-96331A8057A8}" type="presParOf" srcId="{3C824808-F9D8-4E5E-B92C-9567D11999F5}" destId="{C23E5C73-E3E6-4114-B5F5-20E517FF2586}" srcOrd="5" destOrd="0" presId="urn:microsoft.com/office/officeart/2016/7/layout/VerticalDownArrowProcess"/>
    <dgm:cxn modelId="{9AB41433-4ABD-4D4B-BA92-0E53FFDE69A3}" type="presParOf" srcId="{3C824808-F9D8-4E5E-B92C-9567D11999F5}" destId="{488AAA64-B53C-4D6F-A5F3-1F924865E47C}" srcOrd="6" destOrd="0" presId="urn:microsoft.com/office/officeart/2016/7/layout/VerticalDownArrowProcess"/>
    <dgm:cxn modelId="{E3612DDF-EB01-4032-BA0E-625BBA568571}" type="presParOf" srcId="{488AAA64-B53C-4D6F-A5F3-1F924865E47C}" destId="{64F62085-A0BB-4065-8E17-CCC397BE181F}" srcOrd="0" destOrd="0" presId="urn:microsoft.com/office/officeart/2016/7/layout/VerticalDownArrowProcess"/>
    <dgm:cxn modelId="{D0C53532-C3D4-4B56-82A3-88143B64997C}" type="presParOf" srcId="{488AAA64-B53C-4D6F-A5F3-1F924865E47C}" destId="{0194A73C-4485-4244-A135-3E007A1C6585}" srcOrd="1" destOrd="0" presId="urn:microsoft.com/office/officeart/2016/7/layout/VerticalDownArrowProcess"/>
    <dgm:cxn modelId="{1E542C8C-5006-4091-A208-700AD873B5E0}" type="presParOf" srcId="{488AAA64-B53C-4D6F-A5F3-1F924865E47C}" destId="{E83FCEC6-58BD-48A7-987B-0BE1DB2BF8BB}" srcOrd="2" destOrd="0" presId="urn:microsoft.com/office/officeart/2016/7/layout/VerticalDownArrowProcess"/>
    <dgm:cxn modelId="{B49BF704-AFA4-49BE-A444-833FE753E225}" type="presParOf" srcId="{3C824808-F9D8-4E5E-B92C-9567D11999F5}" destId="{2DE6698F-E1D3-40AB-BB85-61732CF5F73A}" srcOrd="7" destOrd="0" presId="urn:microsoft.com/office/officeart/2016/7/layout/VerticalDownArrowProcess"/>
    <dgm:cxn modelId="{587B27F4-AE81-4CE6-941C-ABB14BAF9AE1}" type="presParOf" srcId="{3C824808-F9D8-4E5E-B92C-9567D11999F5}" destId="{B533F9F3-E90E-41E5-944B-B3E48A340832}" srcOrd="8" destOrd="0" presId="urn:microsoft.com/office/officeart/2016/7/layout/VerticalDownArrowProcess"/>
    <dgm:cxn modelId="{6FD94344-CABC-44CF-B82D-1538A64491B0}" type="presParOf" srcId="{B533F9F3-E90E-41E5-944B-B3E48A340832}" destId="{D8E87C34-5688-4612-9028-A0604A52AB3E}" srcOrd="0" destOrd="0" presId="urn:microsoft.com/office/officeart/2016/7/layout/VerticalDownArrowProcess"/>
    <dgm:cxn modelId="{33BCC02E-FF61-412B-85B1-D99699979970}" type="presParOf" srcId="{B533F9F3-E90E-41E5-944B-B3E48A340832}" destId="{126809AC-57BA-47EC-AB27-021EE98AB07D}" srcOrd="1" destOrd="0" presId="urn:microsoft.com/office/officeart/2016/7/layout/VerticalDownArrowProcess"/>
    <dgm:cxn modelId="{54712F68-2B13-4F4E-8FA0-673EEC532CC5}" type="presParOf" srcId="{B533F9F3-E90E-41E5-944B-B3E48A340832}" destId="{0EB9FBBA-F370-46DF-9BB8-C9D07FE2B590}" srcOrd="2" destOrd="0" presId="urn:microsoft.com/office/officeart/2016/7/layout/VerticalDown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17591D-A482-4CF4-A013-217BF665B32C}">
      <dsp:nvSpPr>
        <dsp:cNvPr id="0" name=""/>
        <dsp:cNvSpPr/>
      </dsp:nvSpPr>
      <dsp:spPr>
        <a:xfrm>
          <a:off x="0" y="3798927"/>
          <a:ext cx="2817900" cy="623245"/>
        </a:xfrm>
        <a:prstGeom prst="rect">
          <a:avLst/>
        </a:prstGeom>
        <a:solidFill>
          <a:srgbClr val="4476B2"/>
        </a:solidFill>
        <a:ln w="25400" cap="flat" cmpd="sng" algn="ctr">
          <a:solidFill>
            <a:srgbClr val="4476B2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409" tIns="199136" rIns="200409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Libre Franklin Medium" pitchFamily="2" charset="0"/>
            </a:rPr>
            <a:t>Document</a:t>
          </a:r>
        </a:p>
      </dsp:txBody>
      <dsp:txXfrm>
        <a:off x="0" y="3798927"/>
        <a:ext cx="2817900" cy="623245"/>
      </dsp:txXfrm>
    </dsp:sp>
    <dsp:sp modelId="{6D8D5A4A-04BB-4B54-B517-DFB9D6A8BBE6}">
      <dsp:nvSpPr>
        <dsp:cNvPr id="0" name=""/>
        <dsp:cNvSpPr/>
      </dsp:nvSpPr>
      <dsp:spPr>
        <a:xfrm>
          <a:off x="2817900" y="3798927"/>
          <a:ext cx="8453700" cy="623245"/>
        </a:xfrm>
        <a:prstGeom prst="round1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81" tIns="304800" rIns="171481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ibre Franklin Medium" pitchFamily="2" charset="0"/>
            </a:rPr>
            <a:t>Document all recovery steps thoroughly</a:t>
          </a:r>
        </a:p>
      </dsp:txBody>
      <dsp:txXfrm>
        <a:off x="2817900" y="3798927"/>
        <a:ext cx="8423276" cy="623245"/>
      </dsp:txXfrm>
    </dsp:sp>
    <dsp:sp modelId="{85A8B51E-DF94-4653-994E-C54B7847CED6}">
      <dsp:nvSpPr>
        <dsp:cNvPr id="0" name=""/>
        <dsp:cNvSpPr/>
      </dsp:nvSpPr>
      <dsp:spPr>
        <a:xfrm rot="10800000">
          <a:off x="0" y="2849724"/>
          <a:ext cx="2817900" cy="95855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rgbClr val="3F6EA7"/>
        </a:solidFill>
        <a:ln w="25400" cap="flat" cmpd="sng" algn="ctr">
          <a:solidFill>
            <a:srgbClr val="3F6EA7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409" tIns="199136" rIns="200409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Libre Franklin Medium" pitchFamily="2" charset="0"/>
            </a:rPr>
            <a:t>Retrain</a:t>
          </a:r>
        </a:p>
      </dsp:txBody>
      <dsp:txXfrm rot="-10800000">
        <a:off x="0" y="2849724"/>
        <a:ext cx="2817900" cy="623058"/>
      </dsp:txXfrm>
    </dsp:sp>
    <dsp:sp modelId="{E9F91764-3986-465B-806E-FC1631176648}">
      <dsp:nvSpPr>
        <dsp:cNvPr id="0" name=""/>
        <dsp:cNvSpPr/>
      </dsp:nvSpPr>
      <dsp:spPr>
        <a:xfrm>
          <a:off x="2817900" y="2849724"/>
          <a:ext cx="8453700" cy="623058"/>
        </a:xfrm>
        <a:prstGeom prst="round1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81" tIns="304800" rIns="171481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ibre Franklin Medium" pitchFamily="2" charset="0"/>
            </a:rPr>
            <a:t>Retrain models on cleaned datasets</a:t>
          </a:r>
        </a:p>
      </dsp:txBody>
      <dsp:txXfrm>
        <a:off x="2817900" y="2849724"/>
        <a:ext cx="8423285" cy="623058"/>
      </dsp:txXfrm>
    </dsp:sp>
    <dsp:sp modelId="{52116A36-272B-4FDA-BAD6-B83DB1221AC5}">
      <dsp:nvSpPr>
        <dsp:cNvPr id="0" name=""/>
        <dsp:cNvSpPr/>
      </dsp:nvSpPr>
      <dsp:spPr>
        <a:xfrm rot="10800000">
          <a:off x="0" y="1900521"/>
          <a:ext cx="2817900" cy="95855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rgbClr val="396497"/>
        </a:solidFill>
        <a:ln w="25400" cap="flat" cmpd="sng" algn="ctr">
          <a:solidFill>
            <a:srgbClr val="3F6EA7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409" tIns="199136" rIns="200409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Libre Franklin Medium" pitchFamily="2" charset="0"/>
            </a:rPr>
            <a:t>Flag</a:t>
          </a:r>
        </a:p>
      </dsp:txBody>
      <dsp:txXfrm rot="-10800000">
        <a:off x="0" y="1900521"/>
        <a:ext cx="2817900" cy="623058"/>
      </dsp:txXfrm>
    </dsp:sp>
    <dsp:sp modelId="{92B6DA07-37CB-4C36-84CB-62D49552854F}">
      <dsp:nvSpPr>
        <dsp:cNvPr id="0" name=""/>
        <dsp:cNvSpPr/>
      </dsp:nvSpPr>
      <dsp:spPr>
        <a:xfrm>
          <a:off x="2817900" y="1900521"/>
          <a:ext cx="8453700" cy="623058"/>
        </a:xfrm>
        <a:prstGeom prst="round1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81" tIns="304800" rIns="171481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ibre Franklin Medium" pitchFamily="2" charset="0"/>
            </a:rPr>
            <a:t>Flag suspect records, don't delete them</a:t>
          </a:r>
        </a:p>
      </dsp:txBody>
      <dsp:txXfrm>
        <a:off x="2817900" y="1900521"/>
        <a:ext cx="8423285" cy="623058"/>
      </dsp:txXfrm>
    </dsp:sp>
    <dsp:sp modelId="{0194A73C-4485-4244-A135-3E007A1C6585}">
      <dsp:nvSpPr>
        <dsp:cNvPr id="0" name=""/>
        <dsp:cNvSpPr/>
      </dsp:nvSpPr>
      <dsp:spPr>
        <a:xfrm rot="10800000">
          <a:off x="0" y="951318"/>
          <a:ext cx="2817900" cy="95855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rgbClr val="2C4D76"/>
        </a:solidFill>
        <a:ln w="25400" cap="flat" cmpd="sng" algn="ctr">
          <a:solidFill>
            <a:srgbClr val="2C4D76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409" tIns="199136" rIns="200409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>
              <a:latin typeface="Libre Franklin Medium" pitchFamily="2" charset="0"/>
            </a:rPr>
            <a:t>Use</a:t>
          </a:r>
        </a:p>
      </dsp:txBody>
      <dsp:txXfrm rot="-10800000">
        <a:off x="0" y="951318"/>
        <a:ext cx="2817900" cy="623058"/>
      </dsp:txXfrm>
    </dsp:sp>
    <dsp:sp modelId="{E83FCEC6-58BD-48A7-987B-0BE1DB2BF8BB}">
      <dsp:nvSpPr>
        <dsp:cNvPr id="0" name=""/>
        <dsp:cNvSpPr/>
      </dsp:nvSpPr>
      <dsp:spPr>
        <a:xfrm>
          <a:off x="2817900" y="951318"/>
          <a:ext cx="8453700" cy="623058"/>
        </a:xfrm>
        <a:prstGeom prst="round1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81" tIns="304800" rIns="171481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ibre Franklin Medium" pitchFamily="2" charset="0"/>
            </a:rPr>
            <a:t>Use backup streams to fill gaps</a:t>
          </a:r>
        </a:p>
      </dsp:txBody>
      <dsp:txXfrm>
        <a:off x="2817900" y="951318"/>
        <a:ext cx="8423285" cy="623058"/>
      </dsp:txXfrm>
    </dsp:sp>
    <dsp:sp modelId="{126809AC-57BA-47EC-AB27-021EE98AB07D}">
      <dsp:nvSpPr>
        <dsp:cNvPr id="0" name=""/>
        <dsp:cNvSpPr/>
      </dsp:nvSpPr>
      <dsp:spPr>
        <a:xfrm rot="10800000">
          <a:off x="0" y="2114"/>
          <a:ext cx="2817900" cy="958551"/>
        </a:xfrm>
        <a:prstGeom prst="upArrowCallout">
          <a:avLst>
            <a:gd name="adj1" fmla="val 5000"/>
            <a:gd name="adj2" fmla="val 10000"/>
            <a:gd name="adj3" fmla="val 15000"/>
            <a:gd name="adj4" fmla="val 64977"/>
          </a:avLst>
        </a:prstGeom>
        <a:solidFill>
          <a:schemeClr val="tx2">
            <a:lumMod val="75000"/>
          </a:schemeClr>
        </a:solidFill>
        <a:ln w="25400" cap="flat" cmpd="sng" algn="ctr">
          <a:solidFill>
            <a:srgbClr val="17375E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0409" tIns="199136" rIns="200409" bIns="199136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Libre Franklin Medium" pitchFamily="2" charset="0"/>
            </a:rPr>
            <a:t>Identify</a:t>
          </a:r>
        </a:p>
      </dsp:txBody>
      <dsp:txXfrm rot="-10800000">
        <a:off x="0" y="2114"/>
        <a:ext cx="2817900" cy="623058"/>
      </dsp:txXfrm>
    </dsp:sp>
    <dsp:sp modelId="{0EB9FBBA-F370-46DF-9BB8-C9D07FE2B590}">
      <dsp:nvSpPr>
        <dsp:cNvPr id="0" name=""/>
        <dsp:cNvSpPr/>
      </dsp:nvSpPr>
      <dsp:spPr>
        <a:xfrm>
          <a:off x="2817900" y="2114"/>
          <a:ext cx="8453700" cy="623058"/>
        </a:xfrm>
        <a:prstGeom prst="round1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1481" tIns="304800" rIns="171481" bIns="30480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Libre Franklin Medium" pitchFamily="2" charset="0"/>
            </a:rPr>
            <a:t>Identify corrupted data sources first</a:t>
          </a:r>
        </a:p>
      </dsp:txBody>
      <dsp:txXfrm>
        <a:off x="2817900" y="2114"/>
        <a:ext cx="8423285" cy="62305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VerticalDownArrowProcess">
  <dgm:title val="Vertical Down Arrow Process"/>
  <dgm:desc val="Use to show a progression; a timeline; sequential steps in a task, process, or workflow; or to emphasize movement or direction. Level 1 text appears inside an arrow shape while Level 2 text appears below the arrow shapes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36"/>
      <dgm:constr type="primFontSz" for="des" forName="parentTextArrow" refType="primFontSz" refFor="des" refForName="parentTextBox" op="equ"/>
      <dgm:constr type="primFontSz" for="des" forName="descendantArrow" val="24"/>
      <dgm:constr type="primFontSz" for="des" forName="descendantArrow" refType="primFontSz" refFor="des" refForName="parentTextArrow" op="lte"/>
      <dgm:constr type="primFontSz" for="des" forName="descendantBox" refType="primFontSz" refFor="des" refForName="parentTextArrow" op="lte"/>
      <dgm:constr type="primFontSz" for="des" forName="descendantBox" refType="primFontSz" refFor="des" refForName="parentTextBox" op="lte"/>
      <dgm:constr type="primFontSz" for="des" forName="descendantArrow" refType="primFontSz" refFor="des" refForName="parentTextBox" op="lte"/>
      <dgm:constr type="primFontSz" for="des" forName="descendantBox" refType="primFontSz" refFor="des" refForName="descendan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Box" refType="w" fact="0.25"/>
              <dgm:constr type="h" for="ch" forName="parentTextBox" refType="h"/>
              <dgm:constr type="t" for="ch" forName="parentTextBox"/>
              <dgm:constr type="w" for="ch" forName="descendantBox" refType="w" fact="0.75"/>
              <dgm:constr type="l" for="ch" forName="descendantBox" refType="w" fact="0.25"/>
              <dgm:constr type="b" for="ch" forName="descendantBox" refType="h"/>
              <dgm:constr type="h" for="ch" forName="descendantBox" refType="h"/>
            </dgm:constrLst>
            <dgm:ruleLst/>
            <dgm:layoutNode name="parentTextBox" styleLbl="alignNode1">
              <dgm:alg type="tx"/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descendantBox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presOf axis="des" ptType="node"/>
              <dgm:ruleLst>
                <dgm:rule type="primFontSz" val="11" fact="NaN" max="NaN"/>
              </dgm:ruleLst>
            </dgm:layoutNod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parentTextArrow" refType="w" fact="0.25"/>
              <dgm:constr type="t" for="ch" forName="parentTextArrow"/>
              <dgm:constr type="h" for="ch" forName="parentTextArrow" refType="h" fact="0.65"/>
              <dgm:constr type="w" for="ch" forName="arrow" refType="w" fact="0.25"/>
              <dgm:constr type="h" for="ch" forName="arrow" refType="h"/>
              <dgm:constr type="l" for="ch" forName="descendantArrow" refType="w" fact="0.25"/>
              <dgm:constr type="w" for="ch" forName="descendantArrow" refType="w" fact="0.75"/>
              <dgm:constr type="b" for="ch" forName="descendantArrow" refType="h" fact="0.65"/>
              <dgm:constr type="h" for="ch" forName="descendantArrow" refType="h" fact="0.65"/>
            </dgm:constrLst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>
                <dgm:constr type="primFontSz" refType="h" op="lte" fact="0.5"/>
                <dgm:constr type="lMarg" refType="w" fact="0.2016"/>
                <dgm:constr type="rMarg" refType="w" fact="0.2016"/>
              </dgm:constrLst>
              <dgm:ruleLst>
                <dgm:rule type="primFontSz" val="13" fact="NaN" max="NaN"/>
              </dgm:ruleLst>
            </dgm:layoutNode>
            <dgm:layoutNode name="arrow" styleLbl="alignNode1">
              <dgm:alg type="sp"/>
              <dgm:shape xmlns:r="http://schemas.openxmlformats.org/officeDocument/2006/relationships" rot="180" type="upArrowCallout" r:blip="">
                <dgm:adjLst>
                  <dgm:adj idx="1" val="0.05"/>
                  <dgm:adj idx="2" val="0.1"/>
                  <dgm:adj idx="3" val="0.15"/>
                </dgm:adjLst>
              </dgm:shape>
              <dgm:presOf axis="self"/>
              <dgm:constrLst/>
              <dgm:ruleLst/>
            </dgm:layoutNode>
            <dgm:layoutNode name="descendantArrow" styleLbl="bgAccFollowNode1">
              <dgm:alg type="tx">
                <dgm:param type="stBulletLvl" val="0"/>
                <dgm:param type="parTxLTRAlign" val="l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tMarg" refType="primFontSz"/>
                <dgm:constr type="bMarg" refType="primFontSz"/>
                <dgm:constr type="lMarg" refType="w" fact="0.0575"/>
                <dgm:constr type="rMarg" refType="w" fact="0.0575"/>
              </dgm:constrLst>
              <dgm:ruleLst>
                <dgm:rule type="primFontSz" val="11" fact="NaN" max="NaN"/>
              </dgm:ruleLst>
            </dgm:layoutNod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8.jp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389978" y="0"/>
            <a:ext cx="4898022" cy="10287000"/>
          </a:xfrm>
          <a:custGeom>
            <a:avLst/>
            <a:gdLst/>
            <a:ahLst/>
            <a:cxnLst/>
            <a:rect l="l" t="t" r="r" b="b"/>
            <a:pathLst>
              <a:path w="4898022" h="10287000">
                <a:moveTo>
                  <a:pt x="0" y="0"/>
                </a:moveTo>
                <a:lnTo>
                  <a:pt x="4898022" y="0"/>
                </a:lnTo>
                <a:lnTo>
                  <a:pt x="489802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3576" t="370" r="-26448" b="-370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3" name="AutoShape 3"/>
          <p:cNvSpPr/>
          <p:nvPr/>
        </p:nvSpPr>
        <p:spPr>
          <a:xfrm>
            <a:off x="1514296" y="7614299"/>
            <a:ext cx="4446467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4" name="Freeform 4"/>
          <p:cNvSpPr/>
          <p:nvPr/>
        </p:nvSpPr>
        <p:spPr>
          <a:xfrm>
            <a:off x="1514296" y="8119124"/>
            <a:ext cx="3091390" cy="1209507"/>
          </a:xfrm>
          <a:custGeom>
            <a:avLst/>
            <a:gdLst/>
            <a:ahLst/>
            <a:cxnLst/>
            <a:rect l="l" t="t" r="r" b="b"/>
            <a:pathLst>
              <a:path w="3091390" h="1209507">
                <a:moveTo>
                  <a:pt x="0" y="0"/>
                </a:moveTo>
                <a:lnTo>
                  <a:pt x="3091391" y="0"/>
                </a:lnTo>
                <a:lnTo>
                  <a:pt x="3091391" y="1209506"/>
                </a:lnTo>
                <a:lnTo>
                  <a:pt x="0" y="12095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5" name="TextBox 5"/>
          <p:cNvSpPr txBox="1"/>
          <p:nvPr/>
        </p:nvSpPr>
        <p:spPr>
          <a:xfrm>
            <a:off x="1514296" y="1269777"/>
            <a:ext cx="10805586" cy="49300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3200"/>
              </a:lnSpc>
            </a:pPr>
            <a:r>
              <a:rPr lang="en-US" sz="88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Bad Data, Bad Decisions: AI in Harsh Environments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14296" y="6492875"/>
            <a:ext cx="8058255" cy="86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en-US" sz="25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Sensor failures, weather interference, and unreliable field data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4876800" cy="10287000"/>
          </a:xfrm>
          <a:custGeom>
            <a:avLst/>
            <a:gdLst/>
            <a:ahLst/>
            <a:cxnLst/>
            <a:rect l="l" t="t" r="r" b="b"/>
            <a:pathLst>
              <a:path w="5740380" h="10287000">
                <a:moveTo>
                  <a:pt x="0" y="0"/>
                </a:moveTo>
                <a:lnTo>
                  <a:pt x="5740380" y="0"/>
                </a:lnTo>
                <a:lnTo>
                  <a:pt x="57403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2188" t="-370" r="-68750" b="370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25671887-D288-A419-C450-F71F29F45A0F}"/>
              </a:ext>
            </a:extLst>
          </p:cNvPr>
          <p:cNvSpPr/>
          <p:nvPr/>
        </p:nvSpPr>
        <p:spPr>
          <a:xfrm>
            <a:off x="5551657" y="1028700"/>
            <a:ext cx="11707643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9" name="AutoShape 3">
            <a:extLst>
              <a:ext uri="{FF2B5EF4-FFF2-40B4-BE49-F238E27FC236}">
                <a16:creationId xmlns:a16="http://schemas.microsoft.com/office/drawing/2014/main" id="{2C26262A-5A6B-8996-5350-24973D01A114}"/>
              </a:ext>
            </a:extLst>
          </p:cNvPr>
          <p:cNvSpPr/>
          <p:nvPr/>
        </p:nvSpPr>
        <p:spPr>
          <a:xfrm>
            <a:off x="5551657" y="2013492"/>
            <a:ext cx="11707643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E7B8C36A-5A7A-BA07-7F8C-DEF8E47B5445}"/>
              </a:ext>
            </a:extLst>
          </p:cNvPr>
          <p:cNvSpPr txBox="1"/>
          <p:nvPr/>
        </p:nvSpPr>
        <p:spPr>
          <a:xfrm>
            <a:off x="5447094" y="2301875"/>
            <a:ext cx="11812206" cy="1114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54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Bad Data, Bad Decisions</a:t>
            </a:r>
            <a:endParaRPr lang="en-US" sz="300" dirty="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BDAD7627-B287-A722-0EDF-2F855DA5D7CD}"/>
              </a:ext>
            </a:extLst>
          </p:cNvPr>
          <p:cNvSpPr txBox="1"/>
          <p:nvPr/>
        </p:nvSpPr>
        <p:spPr>
          <a:xfrm>
            <a:off x="5499375" y="4782495"/>
            <a:ext cx="11812206" cy="446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AI needs data to work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Bad data breaks AI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Sensors fail in the field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Weather corrupts readings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Garbage in, garbage out</a:t>
            </a:r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46EEDC33-D412-D066-B8A0-DD00A81B7898}"/>
              </a:ext>
            </a:extLst>
          </p:cNvPr>
          <p:cNvSpPr/>
          <p:nvPr/>
        </p:nvSpPr>
        <p:spPr>
          <a:xfrm>
            <a:off x="5551657" y="1056817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4" name="Google Shape;221;g3e69c54ea80_1_378">
            <a:extLst>
              <a:ext uri="{FF2B5EF4-FFF2-40B4-BE49-F238E27FC236}">
                <a16:creationId xmlns:a16="http://schemas.microsoft.com/office/drawing/2014/main" id="{873B9B18-6CA2-F625-BB77-228CC05CA381}"/>
              </a:ext>
            </a:extLst>
          </p:cNvPr>
          <p:cNvSpPr txBox="1"/>
          <p:nvPr/>
        </p:nvSpPr>
        <p:spPr>
          <a:xfrm>
            <a:off x="5551657" y="3530717"/>
            <a:ext cx="67470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How AI fails when data does</a:t>
            </a:r>
            <a:endParaRPr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" name="Google Shape;194;g3e69c54ea80_1_333">
            <a:extLst>
              <a:ext uri="{FF2B5EF4-FFF2-40B4-BE49-F238E27FC236}">
                <a16:creationId xmlns:a16="http://schemas.microsoft.com/office/drawing/2014/main" id="{F7E2AC7F-FCF9-4DF4-89E0-97B440FE0E2A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Bad Data, Bad Decisions: AI in Harsh Environments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91;g3e69c54ea80_1_333">
            <a:extLst>
              <a:ext uri="{FF2B5EF4-FFF2-40B4-BE49-F238E27FC236}">
                <a16:creationId xmlns:a16="http://schemas.microsoft.com/office/drawing/2014/main" id="{5BE8701D-7E24-3C4A-62DD-4D5C7D46756B}"/>
              </a:ext>
            </a:extLst>
          </p:cNvPr>
          <p:cNvCxnSpPr/>
          <p:nvPr/>
        </p:nvCxnSpPr>
        <p:spPr>
          <a:xfrm>
            <a:off x="1028700" y="1028700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192;g3e69c54ea80_1_333">
            <a:extLst>
              <a:ext uri="{FF2B5EF4-FFF2-40B4-BE49-F238E27FC236}">
                <a16:creationId xmlns:a16="http://schemas.microsoft.com/office/drawing/2014/main" id="{765CA2D4-3056-1A69-6722-E813FD89409E}"/>
              </a:ext>
            </a:extLst>
          </p:cNvPr>
          <p:cNvCxnSpPr/>
          <p:nvPr/>
        </p:nvCxnSpPr>
        <p:spPr>
          <a:xfrm>
            <a:off x="1028700" y="2013492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93;g3e69c54ea80_1_333">
            <a:extLst>
              <a:ext uri="{FF2B5EF4-FFF2-40B4-BE49-F238E27FC236}">
                <a16:creationId xmlns:a16="http://schemas.microsoft.com/office/drawing/2014/main" id="{786B4E6F-58E6-7DE5-D623-78068B186A0D}"/>
              </a:ext>
            </a:extLst>
          </p:cNvPr>
          <p:cNvSpPr txBox="1"/>
          <p:nvPr/>
        </p:nvSpPr>
        <p:spPr>
          <a:xfrm>
            <a:off x="1036494" y="1924659"/>
            <a:ext cx="16215000" cy="15234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66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Common Sensor Failure Modes</a:t>
            </a:r>
            <a:endParaRPr lang="en-US" sz="500" dirty="0"/>
          </a:p>
        </p:txBody>
      </p:sp>
      <p:sp>
        <p:nvSpPr>
          <p:cNvPr id="5" name="Google Shape;194;g3e69c54ea80_1_333">
            <a:extLst>
              <a:ext uri="{FF2B5EF4-FFF2-40B4-BE49-F238E27FC236}">
                <a16:creationId xmlns:a16="http://schemas.microsoft.com/office/drawing/2014/main" id="{9714BE64-B869-D3AF-ED18-9B36D073C08C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Bad Data, Bad Decisions: AI in Harsh Environments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6" name="Google Shape;198;g3e69c54ea80_1_333">
            <a:extLst>
              <a:ext uri="{FF2B5EF4-FFF2-40B4-BE49-F238E27FC236}">
                <a16:creationId xmlns:a16="http://schemas.microsoft.com/office/drawing/2014/main" id="{8F74E5A1-57C6-BAB7-A06A-B7CC875C33E3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99;g3e69c54ea80_1_333">
            <a:extLst>
              <a:ext uri="{FF2B5EF4-FFF2-40B4-BE49-F238E27FC236}">
                <a16:creationId xmlns:a16="http://schemas.microsoft.com/office/drawing/2014/main" id="{8F92BF0B-13DB-B89F-68F3-D53B24492CAC}"/>
              </a:ext>
            </a:extLst>
          </p:cNvPr>
          <p:cNvSpPr txBox="1"/>
          <p:nvPr/>
        </p:nvSpPr>
        <p:spPr>
          <a:xfrm>
            <a:off x="5770500" y="3067845"/>
            <a:ext cx="6747000" cy="661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spcBef>
                <a:spcPts val="1200"/>
              </a:spcBef>
              <a:spcAft>
                <a:spcPts val="1200"/>
              </a:spcAft>
              <a:buSzPts val="1100"/>
            </a:pPr>
            <a:r>
              <a:rPr lang="en-US" sz="23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How sensors break down in harsh conditions</a:t>
            </a:r>
            <a:endParaRPr sz="2300" dirty="0">
              <a:solidFill>
                <a:schemeClr val="accent1">
                  <a:lumMod val="40000"/>
                  <a:lumOff val="60000"/>
                </a:schemeClr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844CB9D-1416-784F-E65B-793CDC687E88}"/>
              </a:ext>
            </a:extLst>
          </p:cNvPr>
          <p:cNvGrpSpPr/>
          <p:nvPr/>
        </p:nvGrpSpPr>
        <p:grpSpPr>
          <a:xfrm>
            <a:off x="1495363" y="4300758"/>
            <a:ext cx="5803186" cy="1461168"/>
            <a:chOff x="1495363" y="4648200"/>
            <a:chExt cx="5803186" cy="1158240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C19CC5CA-B286-0AB1-47E4-45E9DA02EF7B}"/>
                </a:ext>
              </a:extLst>
            </p:cNvPr>
            <p:cNvSpPr/>
            <p:nvPr/>
          </p:nvSpPr>
          <p:spPr>
            <a:xfrm>
              <a:off x="1495363" y="4648200"/>
              <a:ext cx="5803186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  <p:sp>
          <p:nvSpPr>
            <p:cNvPr id="10" name="Google Shape;197;g3e69c54ea80_1_333">
              <a:extLst>
                <a:ext uri="{FF2B5EF4-FFF2-40B4-BE49-F238E27FC236}">
                  <a16:creationId xmlns:a16="http://schemas.microsoft.com/office/drawing/2014/main" id="{884161BB-43A9-A8E7-458C-5E5384815A5A}"/>
                </a:ext>
              </a:extLst>
            </p:cNvPr>
            <p:cNvSpPr txBox="1"/>
            <p:nvPr/>
          </p:nvSpPr>
          <p:spPr>
            <a:xfrm>
              <a:off x="1525437" y="4882367"/>
              <a:ext cx="5773112" cy="682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Drift: readings slowly shift over time</a:t>
              </a:r>
              <a:endParaRPr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A17432-C3F7-A308-14D0-F5B9F41046F8}"/>
              </a:ext>
            </a:extLst>
          </p:cNvPr>
          <p:cNvGrpSpPr/>
          <p:nvPr/>
        </p:nvGrpSpPr>
        <p:grpSpPr>
          <a:xfrm>
            <a:off x="10539078" y="4300757"/>
            <a:ext cx="6468762" cy="1461167"/>
            <a:chOff x="10539078" y="4648200"/>
            <a:chExt cx="6468762" cy="1158240"/>
          </a:xfrm>
        </p:grpSpPr>
        <p:sp>
          <p:nvSpPr>
            <p:cNvPr id="12" name="Google Shape;205;g3e69c54ea80_1_333">
              <a:extLst>
                <a:ext uri="{FF2B5EF4-FFF2-40B4-BE49-F238E27FC236}">
                  <a16:creationId xmlns:a16="http://schemas.microsoft.com/office/drawing/2014/main" id="{4BB4B738-F168-D48A-A116-4C582E48E81D}"/>
                </a:ext>
              </a:extLst>
            </p:cNvPr>
            <p:cNvSpPr txBox="1"/>
            <p:nvPr/>
          </p:nvSpPr>
          <p:spPr>
            <a:xfrm>
              <a:off x="10691478" y="4882368"/>
              <a:ext cx="6162709" cy="682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Signal noise from electrical interference</a:t>
              </a:r>
              <a:endParaRPr dirty="0"/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1432C5B-A3B2-6BC8-CF96-92C3C37950BF}"/>
                </a:ext>
              </a:extLst>
            </p:cNvPr>
            <p:cNvSpPr/>
            <p:nvPr/>
          </p:nvSpPr>
          <p:spPr>
            <a:xfrm>
              <a:off x="10539078" y="4648200"/>
              <a:ext cx="6468762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E4CB749-5EF1-5A2E-9DD4-14F07201B23C}"/>
              </a:ext>
            </a:extLst>
          </p:cNvPr>
          <p:cNvGrpSpPr/>
          <p:nvPr/>
        </p:nvGrpSpPr>
        <p:grpSpPr>
          <a:xfrm>
            <a:off x="1495363" y="7688224"/>
            <a:ext cx="6036056" cy="1461168"/>
            <a:chOff x="1495363" y="7309811"/>
            <a:chExt cx="5803186" cy="1158240"/>
          </a:xfrm>
        </p:grpSpPr>
        <p:sp>
          <p:nvSpPr>
            <p:cNvPr id="15" name="Google Shape;202;g3e69c54ea80_1_333">
              <a:extLst>
                <a:ext uri="{FF2B5EF4-FFF2-40B4-BE49-F238E27FC236}">
                  <a16:creationId xmlns:a16="http://schemas.microsoft.com/office/drawing/2014/main" id="{DD7438AE-09BA-6D28-7987-CAD27533F114}"/>
                </a:ext>
              </a:extLst>
            </p:cNvPr>
            <p:cNvSpPr txBox="1"/>
            <p:nvPr/>
          </p:nvSpPr>
          <p:spPr>
            <a:xfrm>
              <a:off x="1607306" y="7550218"/>
              <a:ext cx="5579300" cy="682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Physical damage from weather and vibration</a:t>
              </a:r>
              <a:endParaRPr dirty="0"/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FEE4BE2B-2BA4-03CF-8AB5-1D99CBB2722E}"/>
                </a:ext>
              </a:extLst>
            </p:cNvPr>
            <p:cNvSpPr/>
            <p:nvPr/>
          </p:nvSpPr>
          <p:spPr>
            <a:xfrm>
              <a:off x="1495363" y="7309811"/>
              <a:ext cx="5803186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60AD570-189E-7AB5-F430-C70AEB3303A9}"/>
              </a:ext>
            </a:extLst>
          </p:cNvPr>
          <p:cNvGrpSpPr/>
          <p:nvPr/>
        </p:nvGrpSpPr>
        <p:grpSpPr>
          <a:xfrm>
            <a:off x="6077733" y="6134100"/>
            <a:ext cx="5803186" cy="1158240"/>
            <a:chOff x="6047253" y="5973340"/>
            <a:chExt cx="5803186" cy="1158240"/>
          </a:xfrm>
        </p:grpSpPr>
        <p:sp>
          <p:nvSpPr>
            <p:cNvPr id="18" name="Google Shape;211;g3e69c54ea80_1_333">
              <a:extLst>
                <a:ext uri="{FF2B5EF4-FFF2-40B4-BE49-F238E27FC236}">
                  <a16:creationId xmlns:a16="http://schemas.microsoft.com/office/drawing/2014/main" id="{BF087A74-5F17-1FC2-3DC1-5A8B86C53550}"/>
                </a:ext>
              </a:extLst>
            </p:cNvPr>
            <p:cNvSpPr txBox="1"/>
            <p:nvPr/>
          </p:nvSpPr>
          <p:spPr>
            <a:xfrm>
              <a:off x="6062290" y="6125952"/>
              <a:ext cx="5773112" cy="8615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Complete dropouts and communication loss</a:t>
              </a:r>
              <a:endParaRPr dirty="0"/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E9B56679-A05E-FA29-2B5C-4D6732D7A74B}"/>
                </a:ext>
              </a:extLst>
            </p:cNvPr>
            <p:cNvSpPr/>
            <p:nvPr/>
          </p:nvSpPr>
          <p:spPr>
            <a:xfrm>
              <a:off x="6047253" y="5973340"/>
              <a:ext cx="5803186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769A22CD-0776-B9FF-D420-28203A384EC8}"/>
              </a:ext>
            </a:extLst>
          </p:cNvPr>
          <p:cNvGrpSpPr/>
          <p:nvPr/>
        </p:nvGrpSpPr>
        <p:grpSpPr>
          <a:xfrm>
            <a:off x="10755431" y="7688224"/>
            <a:ext cx="6036056" cy="1461168"/>
            <a:chOff x="1495363" y="7309811"/>
            <a:chExt cx="5803186" cy="1158240"/>
          </a:xfrm>
        </p:grpSpPr>
        <p:sp>
          <p:nvSpPr>
            <p:cNvPr id="21" name="Google Shape;202;g3e69c54ea80_1_333">
              <a:extLst>
                <a:ext uri="{FF2B5EF4-FFF2-40B4-BE49-F238E27FC236}">
                  <a16:creationId xmlns:a16="http://schemas.microsoft.com/office/drawing/2014/main" id="{5B84BFFF-1773-DA6B-DF86-2A343CC83C60}"/>
                </a:ext>
              </a:extLst>
            </p:cNvPr>
            <p:cNvSpPr txBox="1"/>
            <p:nvPr/>
          </p:nvSpPr>
          <p:spPr>
            <a:xfrm>
              <a:off x="1607306" y="7550218"/>
              <a:ext cx="5579300" cy="6829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lvl="0" algn="ctr"/>
              <a:r>
                <a:rPr lang="en-US" sz="2799" dirty="0">
                  <a:solidFill>
                    <a:srgbClr val="CAE8FF"/>
                  </a:solidFill>
                  <a:latin typeface="Libre Franklin"/>
                  <a:ea typeface="Libre Franklin"/>
                  <a:cs typeface="Libre Franklin"/>
                  <a:sym typeface="Libre Franklin"/>
                </a:rPr>
                <a:t>Harsh conditions accelerate all failures</a:t>
              </a:r>
              <a:endParaRPr lang="en-US" sz="2800" dirty="0"/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B77927DB-ECF2-A459-0283-475663733E11}"/>
                </a:ext>
              </a:extLst>
            </p:cNvPr>
            <p:cNvSpPr/>
            <p:nvPr/>
          </p:nvSpPr>
          <p:spPr>
            <a:xfrm>
              <a:off x="1495363" y="7309811"/>
              <a:ext cx="5803186" cy="1158240"/>
            </a:xfrm>
            <a:prstGeom prst="roundRect">
              <a:avLst/>
            </a:prstGeom>
            <a:noFill/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accent1"/>
            </a:fontRef>
          </p:style>
          <p:txBody>
            <a:bodyPr rtlCol="0" anchor="ctr"/>
            <a:lstStyle/>
            <a:p>
              <a:pPr algn="ctr"/>
              <a:endParaRPr lang="en-MY" sz="105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72EF0-E576-8B0B-FBE3-0011C73BF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6FD871A-BFD4-3EC2-F9FF-6C052D10A985}"/>
              </a:ext>
            </a:extLst>
          </p:cNvPr>
          <p:cNvSpPr/>
          <p:nvPr/>
        </p:nvSpPr>
        <p:spPr>
          <a:xfrm flipH="1">
            <a:off x="13403826" y="0"/>
            <a:ext cx="4876800" cy="10287000"/>
          </a:xfrm>
          <a:custGeom>
            <a:avLst/>
            <a:gdLst/>
            <a:ahLst/>
            <a:cxnLst/>
            <a:rect l="l" t="t" r="r" b="b"/>
            <a:pathLst>
              <a:path w="5740380" h="10287000">
                <a:moveTo>
                  <a:pt x="0" y="0"/>
                </a:moveTo>
                <a:lnTo>
                  <a:pt x="5740380" y="0"/>
                </a:lnTo>
                <a:lnTo>
                  <a:pt x="57403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07661" r="-167339"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17C936E2-2BB9-51EC-099B-0D37DB7896DF}"/>
              </a:ext>
            </a:extLst>
          </p:cNvPr>
          <p:cNvSpPr txBox="1"/>
          <p:nvPr/>
        </p:nvSpPr>
        <p:spPr>
          <a:xfrm>
            <a:off x="990600" y="2309391"/>
            <a:ext cx="11812206" cy="1238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60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AI's Blind Trust Problem</a:t>
            </a:r>
            <a:endParaRPr lang="en-US" sz="400" dirty="0"/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31B16AED-10C5-D8C0-3AFA-B63583975114}"/>
              </a:ext>
            </a:extLst>
          </p:cNvPr>
          <p:cNvSpPr txBox="1"/>
          <p:nvPr/>
        </p:nvSpPr>
        <p:spPr>
          <a:xfrm>
            <a:off x="1042881" y="4790011"/>
            <a:ext cx="11812206" cy="44607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AI accepts all sensor input as valid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No built-in quality checks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Cannot distinguish real from corrupted signals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Trained on clean lab data, not messy field conditions</a:t>
            </a:r>
          </a:p>
          <a:p>
            <a:pPr marL="342900" indent="-342900">
              <a:lnSpc>
                <a:spcPct val="250000"/>
              </a:lnSpc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Missing context to question unrealistic readings</a:t>
            </a:r>
          </a:p>
        </p:txBody>
      </p:sp>
      <p:sp>
        <p:nvSpPr>
          <p:cNvPr id="14" name="Google Shape;221;g3e69c54ea80_1_378">
            <a:extLst>
              <a:ext uri="{FF2B5EF4-FFF2-40B4-BE49-F238E27FC236}">
                <a16:creationId xmlns:a16="http://schemas.microsoft.com/office/drawing/2014/main" id="{A568ADBE-3AAA-A810-D547-6C1ED8FE4958}"/>
              </a:ext>
            </a:extLst>
          </p:cNvPr>
          <p:cNvSpPr txBox="1"/>
          <p:nvPr/>
        </p:nvSpPr>
        <p:spPr>
          <a:xfrm>
            <a:off x="1095163" y="3538233"/>
            <a:ext cx="67470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Why AI can't detect bad data on its own</a:t>
            </a:r>
            <a:endParaRPr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3" name="Google Shape;191;g3e69c54ea80_1_333">
            <a:extLst>
              <a:ext uri="{FF2B5EF4-FFF2-40B4-BE49-F238E27FC236}">
                <a16:creationId xmlns:a16="http://schemas.microsoft.com/office/drawing/2014/main" id="{504E26D9-6EF3-BCE3-3858-B8FB507215D5}"/>
              </a:ext>
            </a:extLst>
          </p:cNvPr>
          <p:cNvCxnSpPr>
            <a:cxnSpLocks/>
          </p:cNvCxnSpPr>
          <p:nvPr/>
        </p:nvCxnSpPr>
        <p:spPr>
          <a:xfrm>
            <a:off x="1028700" y="1028700"/>
            <a:ext cx="118800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192;g3e69c54ea80_1_333">
            <a:extLst>
              <a:ext uri="{FF2B5EF4-FFF2-40B4-BE49-F238E27FC236}">
                <a16:creationId xmlns:a16="http://schemas.microsoft.com/office/drawing/2014/main" id="{233E5449-A1AA-72D1-3FA0-5819FE62ADCE}"/>
              </a:ext>
            </a:extLst>
          </p:cNvPr>
          <p:cNvCxnSpPr>
            <a:cxnSpLocks/>
          </p:cNvCxnSpPr>
          <p:nvPr/>
        </p:nvCxnSpPr>
        <p:spPr>
          <a:xfrm>
            <a:off x="1028700" y="2013492"/>
            <a:ext cx="118800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94;g3e69c54ea80_1_333">
            <a:extLst>
              <a:ext uri="{FF2B5EF4-FFF2-40B4-BE49-F238E27FC236}">
                <a16:creationId xmlns:a16="http://schemas.microsoft.com/office/drawing/2014/main" id="{53DE845C-19E1-C9A8-05E7-692DAA90BD81}"/>
              </a:ext>
            </a:extLst>
          </p:cNvPr>
          <p:cNvSpPr txBox="1"/>
          <p:nvPr/>
        </p:nvSpPr>
        <p:spPr>
          <a:xfrm>
            <a:off x="4763706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Bad Data, Bad Decisions: AI in Harsh Environments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6" name="Google Shape;198;g3e69c54ea80_1_333">
            <a:extLst>
              <a:ext uri="{FF2B5EF4-FFF2-40B4-BE49-F238E27FC236}">
                <a16:creationId xmlns:a16="http://schemas.microsoft.com/office/drawing/2014/main" id="{291AA969-A5F4-CF6B-FC5A-18D090F22375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041064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2159FA-E1F2-DE7A-002F-8518785E0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32;g3e69c54ea80_1_191">
            <a:extLst>
              <a:ext uri="{FF2B5EF4-FFF2-40B4-BE49-F238E27FC236}">
                <a16:creationId xmlns:a16="http://schemas.microsoft.com/office/drawing/2014/main" id="{A98ED27D-5F8F-9706-BE3C-8597442AE39D}"/>
              </a:ext>
            </a:extLst>
          </p:cNvPr>
          <p:cNvCxnSpPr/>
          <p:nvPr/>
        </p:nvCxnSpPr>
        <p:spPr>
          <a:xfrm>
            <a:off x="1028700" y="1028700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133;g3e69c54ea80_1_191">
            <a:extLst>
              <a:ext uri="{FF2B5EF4-FFF2-40B4-BE49-F238E27FC236}">
                <a16:creationId xmlns:a16="http://schemas.microsoft.com/office/drawing/2014/main" id="{6A7C2AA9-4A6C-63CC-38F8-CDD65D9FC6B3}"/>
              </a:ext>
            </a:extLst>
          </p:cNvPr>
          <p:cNvCxnSpPr/>
          <p:nvPr/>
        </p:nvCxnSpPr>
        <p:spPr>
          <a:xfrm>
            <a:off x="1028700" y="2013492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34;g3e69c54ea80_1_191">
            <a:extLst>
              <a:ext uri="{FF2B5EF4-FFF2-40B4-BE49-F238E27FC236}">
                <a16:creationId xmlns:a16="http://schemas.microsoft.com/office/drawing/2014/main" id="{41ACF8A4-E771-B0F5-E75F-29C3757081D9}"/>
              </a:ext>
            </a:extLst>
          </p:cNvPr>
          <p:cNvSpPr txBox="1"/>
          <p:nvPr/>
        </p:nvSpPr>
        <p:spPr>
          <a:xfrm>
            <a:off x="1044444" y="1947398"/>
            <a:ext cx="16215000" cy="1454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50000"/>
              </a:lnSpc>
            </a:pPr>
            <a:r>
              <a:rPr lang="en-US" sz="63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Weather Interference Effects</a:t>
            </a:r>
            <a:endParaRPr sz="500" dirty="0"/>
          </a:p>
        </p:txBody>
      </p:sp>
      <p:sp>
        <p:nvSpPr>
          <p:cNvPr id="5" name="Google Shape;135;g3e69c54ea80_1_191">
            <a:extLst>
              <a:ext uri="{FF2B5EF4-FFF2-40B4-BE49-F238E27FC236}">
                <a16:creationId xmlns:a16="http://schemas.microsoft.com/office/drawing/2014/main" id="{990C936D-D7DE-A20A-11BD-24363416C2DD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Bad Data, Bad Decisions: AI in Harsh Environments</a:t>
            </a:r>
            <a:endParaRPr sz="20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6" name="Google Shape;136;g3e69c54ea80_1_191">
            <a:extLst>
              <a:ext uri="{FF2B5EF4-FFF2-40B4-BE49-F238E27FC236}">
                <a16:creationId xmlns:a16="http://schemas.microsoft.com/office/drawing/2014/main" id="{3937A57B-03B1-8F18-6110-F247C9AA49ED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37;g3e69c54ea80_1_191">
            <a:extLst>
              <a:ext uri="{FF2B5EF4-FFF2-40B4-BE49-F238E27FC236}">
                <a16:creationId xmlns:a16="http://schemas.microsoft.com/office/drawing/2014/main" id="{1A00025C-267D-5DF3-582C-8B2A3BEE1F59}"/>
              </a:ext>
            </a:extLst>
          </p:cNvPr>
          <p:cNvSpPr txBox="1"/>
          <p:nvPr/>
        </p:nvSpPr>
        <p:spPr>
          <a:xfrm>
            <a:off x="5770500" y="3285131"/>
            <a:ext cx="6747000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3000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How environmental conditions corrupt field data</a:t>
            </a:r>
            <a:endParaRPr dirty="0"/>
          </a:p>
        </p:txBody>
      </p:sp>
      <p:cxnSp>
        <p:nvCxnSpPr>
          <p:cNvPr id="8" name="Google Shape;139;g3e69c54ea80_1_191">
            <a:extLst>
              <a:ext uri="{FF2B5EF4-FFF2-40B4-BE49-F238E27FC236}">
                <a16:creationId xmlns:a16="http://schemas.microsoft.com/office/drawing/2014/main" id="{0AB5345B-80CC-8CCF-2166-A66A60E84BE7}"/>
              </a:ext>
            </a:extLst>
          </p:cNvPr>
          <p:cNvCxnSpPr>
            <a:cxnSpLocks/>
          </p:cNvCxnSpPr>
          <p:nvPr/>
        </p:nvCxnSpPr>
        <p:spPr>
          <a:xfrm>
            <a:off x="6312657" y="5185419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" name="Google Shape;140;g3e69c54ea80_1_191">
            <a:extLst>
              <a:ext uri="{FF2B5EF4-FFF2-40B4-BE49-F238E27FC236}">
                <a16:creationId xmlns:a16="http://schemas.microsoft.com/office/drawing/2014/main" id="{63117C74-A9D7-69CA-E88B-21630F66D782}"/>
              </a:ext>
            </a:extLst>
          </p:cNvPr>
          <p:cNvCxnSpPr>
            <a:cxnSpLocks/>
          </p:cNvCxnSpPr>
          <p:nvPr/>
        </p:nvCxnSpPr>
        <p:spPr>
          <a:xfrm>
            <a:off x="6312657" y="6316268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" name="Google Shape;141;g3e69c54ea80_1_191">
            <a:extLst>
              <a:ext uri="{FF2B5EF4-FFF2-40B4-BE49-F238E27FC236}">
                <a16:creationId xmlns:a16="http://schemas.microsoft.com/office/drawing/2014/main" id="{3579B102-6079-DE00-5E9D-4FC0AFC24F6A}"/>
              </a:ext>
            </a:extLst>
          </p:cNvPr>
          <p:cNvCxnSpPr>
            <a:cxnSpLocks/>
          </p:cNvCxnSpPr>
          <p:nvPr/>
        </p:nvCxnSpPr>
        <p:spPr>
          <a:xfrm>
            <a:off x="6312657" y="7447117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42;g3e69c54ea80_1_191">
            <a:extLst>
              <a:ext uri="{FF2B5EF4-FFF2-40B4-BE49-F238E27FC236}">
                <a16:creationId xmlns:a16="http://schemas.microsoft.com/office/drawing/2014/main" id="{033AFBC3-A497-49A5-EE52-1BA487F952D1}"/>
              </a:ext>
            </a:extLst>
          </p:cNvPr>
          <p:cNvCxnSpPr>
            <a:cxnSpLocks/>
          </p:cNvCxnSpPr>
          <p:nvPr/>
        </p:nvCxnSpPr>
        <p:spPr>
          <a:xfrm>
            <a:off x="6312657" y="8577966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45;g3e69c54ea80_1_191">
            <a:extLst>
              <a:ext uri="{FF2B5EF4-FFF2-40B4-BE49-F238E27FC236}">
                <a16:creationId xmlns:a16="http://schemas.microsoft.com/office/drawing/2014/main" id="{023B15C4-6C97-C797-F912-5C6DCE2D571F}"/>
              </a:ext>
            </a:extLst>
          </p:cNvPr>
          <p:cNvSpPr txBox="1"/>
          <p:nvPr/>
        </p:nvSpPr>
        <p:spPr>
          <a:xfrm>
            <a:off x="3456164" y="4551166"/>
            <a:ext cx="11333340" cy="430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Rain and moisture cause electrical faults</a:t>
            </a:r>
            <a:endParaRPr dirty="0"/>
          </a:p>
        </p:txBody>
      </p:sp>
      <p:sp>
        <p:nvSpPr>
          <p:cNvPr id="13" name="Google Shape;148;g3e69c54ea80_1_191">
            <a:extLst>
              <a:ext uri="{FF2B5EF4-FFF2-40B4-BE49-F238E27FC236}">
                <a16:creationId xmlns:a16="http://schemas.microsoft.com/office/drawing/2014/main" id="{27FD0017-AAB7-5229-E533-B5A230B855C2}"/>
              </a:ext>
            </a:extLst>
          </p:cNvPr>
          <p:cNvSpPr txBox="1"/>
          <p:nvPr/>
        </p:nvSpPr>
        <p:spPr>
          <a:xfrm>
            <a:off x="3517149" y="5631417"/>
            <a:ext cx="11211370" cy="430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Temperature extremes affect sensor accuracy</a:t>
            </a:r>
            <a:endParaRPr dirty="0"/>
          </a:p>
        </p:txBody>
      </p:sp>
      <p:sp>
        <p:nvSpPr>
          <p:cNvPr id="14" name="Google Shape;151;g3e69c54ea80_1_191">
            <a:extLst>
              <a:ext uri="{FF2B5EF4-FFF2-40B4-BE49-F238E27FC236}">
                <a16:creationId xmlns:a16="http://schemas.microsoft.com/office/drawing/2014/main" id="{751EB2AC-085F-EF47-5338-4CDA01F80490}"/>
              </a:ext>
            </a:extLst>
          </p:cNvPr>
          <p:cNvSpPr txBox="1"/>
          <p:nvPr/>
        </p:nvSpPr>
        <p:spPr>
          <a:xfrm>
            <a:off x="3456164" y="6711668"/>
            <a:ext cx="11333340" cy="430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/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Wind and vibration create false readings</a:t>
            </a:r>
            <a:endParaRPr dirty="0"/>
          </a:p>
        </p:txBody>
      </p:sp>
      <p:sp>
        <p:nvSpPr>
          <p:cNvPr id="15" name="Google Shape;154;g3e69c54ea80_1_191">
            <a:extLst>
              <a:ext uri="{FF2B5EF4-FFF2-40B4-BE49-F238E27FC236}">
                <a16:creationId xmlns:a16="http://schemas.microsoft.com/office/drawing/2014/main" id="{F8D63E8B-0885-EE30-E41F-050EAFF86FC6}"/>
              </a:ext>
            </a:extLst>
          </p:cNvPr>
          <p:cNvSpPr txBox="1"/>
          <p:nvPr/>
        </p:nvSpPr>
        <p:spPr>
          <a:xfrm>
            <a:off x="3456164" y="7791919"/>
            <a:ext cx="11333340" cy="559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30010"/>
              </a:lnSpc>
            </a:pPr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Dust and debris block or damage sensors</a:t>
            </a:r>
            <a:endParaRPr dirty="0"/>
          </a:p>
        </p:txBody>
      </p:sp>
      <p:sp>
        <p:nvSpPr>
          <p:cNvPr id="16" name="Google Shape;157;g3e69c54ea80_1_191">
            <a:extLst>
              <a:ext uri="{FF2B5EF4-FFF2-40B4-BE49-F238E27FC236}">
                <a16:creationId xmlns:a16="http://schemas.microsoft.com/office/drawing/2014/main" id="{7A456231-875E-46FE-04DC-A0D720EEDF18}"/>
              </a:ext>
            </a:extLst>
          </p:cNvPr>
          <p:cNvSpPr txBox="1"/>
          <p:nvPr/>
        </p:nvSpPr>
        <p:spPr>
          <a:xfrm>
            <a:off x="3338989" y="9001371"/>
            <a:ext cx="11567690" cy="559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 algn="ctr">
              <a:lnSpc>
                <a:spcPct val="130010"/>
              </a:lnSpc>
            </a:pPr>
            <a:r>
              <a:rPr lang="en-US" sz="2799" dirty="0">
                <a:solidFill>
                  <a:srgbClr val="CAE8FF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Electromagnetic storms disrupt wireless signals</a:t>
            </a:r>
            <a:endParaRPr dirty="0"/>
          </a:p>
        </p:txBody>
      </p:sp>
      <p:cxnSp>
        <p:nvCxnSpPr>
          <p:cNvPr id="17" name="Google Shape;142;g3e69c54ea80_1_191">
            <a:extLst>
              <a:ext uri="{FF2B5EF4-FFF2-40B4-BE49-F238E27FC236}">
                <a16:creationId xmlns:a16="http://schemas.microsoft.com/office/drawing/2014/main" id="{CA6898B1-1C0B-8ED0-DE67-3342DC650689}"/>
              </a:ext>
            </a:extLst>
          </p:cNvPr>
          <p:cNvCxnSpPr>
            <a:cxnSpLocks/>
          </p:cNvCxnSpPr>
          <p:nvPr/>
        </p:nvCxnSpPr>
        <p:spPr>
          <a:xfrm>
            <a:off x="6312657" y="9738312"/>
            <a:ext cx="5662686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</p:spTree>
    <p:extLst>
      <p:ext uri="{BB962C8B-B14F-4D97-AF65-F5344CB8AC3E}">
        <p14:creationId xmlns:p14="http://schemas.microsoft.com/office/powerpoint/2010/main" val="41493404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A3B6ED-F13F-7E1B-EDBA-D4F4F96C5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5">
            <a:extLst>
              <a:ext uri="{FF2B5EF4-FFF2-40B4-BE49-F238E27FC236}">
                <a16:creationId xmlns:a16="http://schemas.microsoft.com/office/drawing/2014/main" id="{82EB964D-FF6D-FA77-6D86-31E5231CC062}"/>
              </a:ext>
            </a:extLst>
          </p:cNvPr>
          <p:cNvSpPr txBox="1"/>
          <p:nvPr/>
        </p:nvSpPr>
        <p:spPr>
          <a:xfrm>
            <a:off x="990600" y="2309391"/>
            <a:ext cx="11812206" cy="1238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60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The Cascade Effect</a:t>
            </a:r>
            <a:endParaRPr lang="en-US" sz="400" dirty="0"/>
          </a:p>
        </p:txBody>
      </p:sp>
      <p:sp>
        <p:nvSpPr>
          <p:cNvPr id="8" name="Google Shape;221;g3e69c54ea80_1_378">
            <a:extLst>
              <a:ext uri="{FF2B5EF4-FFF2-40B4-BE49-F238E27FC236}">
                <a16:creationId xmlns:a16="http://schemas.microsoft.com/office/drawing/2014/main" id="{EA7EFE2F-0489-3F7D-A912-FFC3537CBA6F}"/>
              </a:ext>
            </a:extLst>
          </p:cNvPr>
          <p:cNvSpPr txBox="1"/>
          <p:nvPr/>
        </p:nvSpPr>
        <p:spPr>
          <a:xfrm>
            <a:off x="1095162" y="3538233"/>
            <a:ext cx="9496637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8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How single corrupted signals spread through systems</a:t>
            </a:r>
            <a:endParaRPr sz="18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" name="Google Shape;191;g3e69c54ea80_1_333">
            <a:extLst>
              <a:ext uri="{FF2B5EF4-FFF2-40B4-BE49-F238E27FC236}">
                <a16:creationId xmlns:a16="http://schemas.microsoft.com/office/drawing/2014/main" id="{6A88979A-944F-ACB8-BA3E-CFBF001905E5}"/>
              </a:ext>
            </a:extLst>
          </p:cNvPr>
          <p:cNvCxnSpPr>
            <a:cxnSpLocks/>
          </p:cNvCxnSpPr>
          <p:nvPr/>
        </p:nvCxnSpPr>
        <p:spPr>
          <a:xfrm>
            <a:off x="1028700" y="1028700"/>
            <a:ext cx="118800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" name="Google Shape;192;g3e69c54ea80_1_333">
            <a:extLst>
              <a:ext uri="{FF2B5EF4-FFF2-40B4-BE49-F238E27FC236}">
                <a16:creationId xmlns:a16="http://schemas.microsoft.com/office/drawing/2014/main" id="{D4C5CCD9-F4D2-3251-14E5-2A418928C594}"/>
              </a:ext>
            </a:extLst>
          </p:cNvPr>
          <p:cNvCxnSpPr>
            <a:cxnSpLocks/>
          </p:cNvCxnSpPr>
          <p:nvPr/>
        </p:nvCxnSpPr>
        <p:spPr>
          <a:xfrm>
            <a:off x="1028700" y="2013492"/>
            <a:ext cx="118800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" name="Google Shape;194;g3e69c54ea80_1_333">
            <a:extLst>
              <a:ext uri="{FF2B5EF4-FFF2-40B4-BE49-F238E27FC236}">
                <a16:creationId xmlns:a16="http://schemas.microsoft.com/office/drawing/2014/main" id="{3AB7C682-CA46-425F-6C75-7F0389FC7A8E}"/>
              </a:ext>
            </a:extLst>
          </p:cNvPr>
          <p:cNvSpPr txBox="1"/>
          <p:nvPr/>
        </p:nvSpPr>
        <p:spPr>
          <a:xfrm>
            <a:off x="4763706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Bad Data, Bad Decisions: AI in Harsh Environments</a:t>
            </a:r>
          </a:p>
        </p:txBody>
      </p:sp>
      <p:sp>
        <p:nvSpPr>
          <p:cNvPr id="10" name="Google Shape;198;g3e69c54ea80_1_333">
            <a:extLst>
              <a:ext uri="{FF2B5EF4-FFF2-40B4-BE49-F238E27FC236}">
                <a16:creationId xmlns:a16="http://schemas.microsoft.com/office/drawing/2014/main" id="{00E33BA6-7C18-AB9A-97B3-7274153E4223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B5077466-74FD-A267-3F22-E0D34B9FA55F}"/>
              </a:ext>
            </a:extLst>
          </p:cNvPr>
          <p:cNvSpPr txBox="1"/>
          <p:nvPr/>
        </p:nvSpPr>
        <p:spPr>
          <a:xfrm>
            <a:off x="960624" y="7249352"/>
            <a:ext cx="3242299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Small errors compound into major mistakes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5C93C0D-12D0-C0B9-8572-431EC1A0DE80}"/>
              </a:ext>
            </a:extLst>
          </p:cNvPr>
          <p:cNvSpPr txBox="1"/>
          <p:nvPr/>
        </p:nvSpPr>
        <p:spPr>
          <a:xfrm>
            <a:off x="5140424" y="7249352"/>
            <a:ext cx="325804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Problem often unnoticed until damage is done</a:t>
            </a:r>
          </a:p>
        </p:txBody>
      </p:sp>
      <p:sp>
        <p:nvSpPr>
          <p:cNvPr id="12" name="TextBox 3">
            <a:extLst>
              <a:ext uri="{FF2B5EF4-FFF2-40B4-BE49-F238E27FC236}">
                <a16:creationId xmlns:a16="http://schemas.microsoft.com/office/drawing/2014/main" id="{CDFDDA82-1481-8C1D-C3C3-050C7C260168}"/>
              </a:ext>
            </a:extLst>
          </p:cNvPr>
          <p:cNvSpPr txBox="1"/>
          <p:nvPr/>
        </p:nvSpPr>
        <p:spPr>
          <a:xfrm>
            <a:off x="914400" y="5124450"/>
            <a:ext cx="3242299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One faulty sensor affects thousands of data points</a:t>
            </a:r>
          </a:p>
        </p:txBody>
      </p:sp>
      <p:sp>
        <p:nvSpPr>
          <p:cNvPr id="13" name="TextBox 5">
            <a:extLst>
              <a:ext uri="{FF2B5EF4-FFF2-40B4-BE49-F238E27FC236}">
                <a16:creationId xmlns:a16="http://schemas.microsoft.com/office/drawing/2014/main" id="{735B4F83-451D-9212-95E2-126AD874111E}"/>
              </a:ext>
            </a:extLst>
          </p:cNvPr>
          <p:cNvSpPr txBox="1"/>
          <p:nvPr/>
        </p:nvSpPr>
        <p:spPr>
          <a:xfrm>
            <a:off x="5123457" y="5124450"/>
            <a:ext cx="325804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Bad readings train models incorrectly</a:t>
            </a:r>
          </a:p>
        </p:txBody>
      </p:sp>
      <p:sp>
        <p:nvSpPr>
          <p:cNvPr id="14" name="TextBox 8">
            <a:extLst>
              <a:ext uri="{FF2B5EF4-FFF2-40B4-BE49-F238E27FC236}">
                <a16:creationId xmlns:a16="http://schemas.microsoft.com/office/drawing/2014/main" id="{3569915D-653F-D71D-971B-5F04F9C67807}"/>
              </a:ext>
            </a:extLst>
          </p:cNvPr>
          <p:cNvSpPr txBox="1"/>
          <p:nvPr/>
        </p:nvSpPr>
        <p:spPr>
          <a:xfrm>
            <a:off x="9348257" y="5124450"/>
            <a:ext cx="3258042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  <a:spcBef>
                <a:spcPct val="0"/>
              </a:spcBef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Predictions drift silently in wrong direction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218E9B7A-7DA8-ABEB-25C7-36D9EE24F782}"/>
              </a:ext>
            </a:extLst>
          </p:cNvPr>
          <p:cNvSpPr txBox="1"/>
          <p:nvPr/>
        </p:nvSpPr>
        <p:spPr>
          <a:xfrm>
            <a:off x="9335967" y="7249352"/>
            <a:ext cx="3258042" cy="666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00"/>
              </a:lnSpc>
              <a:spcBef>
                <a:spcPct val="0"/>
              </a:spcBef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Your gut feeling that something is off</a:t>
            </a:r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EED8008B-AAA0-9132-7A7C-58BB715936F1}"/>
              </a:ext>
            </a:extLst>
          </p:cNvPr>
          <p:cNvSpPr/>
          <p:nvPr/>
        </p:nvSpPr>
        <p:spPr>
          <a:xfrm>
            <a:off x="13403826" y="0"/>
            <a:ext cx="4876800" cy="10287000"/>
          </a:xfrm>
          <a:custGeom>
            <a:avLst/>
            <a:gdLst/>
            <a:ahLst/>
            <a:cxnLst/>
            <a:rect l="l" t="t" r="r" b="b"/>
            <a:pathLst>
              <a:path w="5740380" h="10287000">
                <a:moveTo>
                  <a:pt x="0" y="0"/>
                </a:moveTo>
                <a:lnTo>
                  <a:pt x="5740380" y="0"/>
                </a:lnTo>
                <a:lnTo>
                  <a:pt x="574038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291037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32DFC-D224-9C28-D88A-9BB2A8D8C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62;g3e69c54ea80_1_265">
            <a:extLst>
              <a:ext uri="{FF2B5EF4-FFF2-40B4-BE49-F238E27FC236}">
                <a16:creationId xmlns:a16="http://schemas.microsoft.com/office/drawing/2014/main" id="{94F69B8C-3D40-2F67-DD81-143B4A8F07FB}"/>
              </a:ext>
            </a:extLst>
          </p:cNvPr>
          <p:cNvCxnSpPr/>
          <p:nvPr/>
        </p:nvCxnSpPr>
        <p:spPr>
          <a:xfrm>
            <a:off x="1028700" y="1028700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163;g3e69c54ea80_1_265">
            <a:extLst>
              <a:ext uri="{FF2B5EF4-FFF2-40B4-BE49-F238E27FC236}">
                <a16:creationId xmlns:a16="http://schemas.microsoft.com/office/drawing/2014/main" id="{B1324976-25B0-6EFD-A325-37587404FF83}"/>
              </a:ext>
            </a:extLst>
          </p:cNvPr>
          <p:cNvCxnSpPr/>
          <p:nvPr/>
        </p:nvCxnSpPr>
        <p:spPr>
          <a:xfrm>
            <a:off x="1028700" y="2013492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65;g3e69c54ea80_1_265">
            <a:extLst>
              <a:ext uri="{FF2B5EF4-FFF2-40B4-BE49-F238E27FC236}">
                <a16:creationId xmlns:a16="http://schemas.microsoft.com/office/drawing/2014/main" id="{4C90B16E-8CF5-A223-FC96-AB32AF195CA2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Bad Data, Bad Decisions: AI in Harsh Environments</a:t>
            </a:r>
          </a:p>
        </p:txBody>
      </p:sp>
      <p:sp>
        <p:nvSpPr>
          <p:cNvPr id="5" name="Google Shape;166;g3e69c54ea80_1_265">
            <a:extLst>
              <a:ext uri="{FF2B5EF4-FFF2-40B4-BE49-F238E27FC236}">
                <a16:creationId xmlns:a16="http://schemas.microsoft.com/office/drawing/2014/main" id="{A55C7D91-571D-43F8-129E-BD04642447DB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AutoShape 6">
            <a:extLst>
              <a:ext uri="{FF2B5EF4-FFF2-40B4-BE49-F238E27FC236}">
                <a16:creationId xmlns:a16="http://schemas.microsoft.com/office/drawing/2014/main" id="{10B4AE37-71AA-33ED-8FED-E7B857584B0E}"/>
              </a:ext>
            </a:extLst>
          </p:cNvPr>
          <p:cNvSpPr/>
          <p:nvPr/>
        </p:nvSpPr>
        <p:spPr>
          <a:xfrm>
            <a:off x="9811016" y="3919941"/>
            <a:ext cx="7391283" cy="0"/>
          </a:xfrm>
          <a:prstGeom prst="line">
            <a:avLst/>
          </a:prstGeom>
          <a:ln w="9525" cap="flat">
            <a:solidFill>
              <a:srgbClr val="CAE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7" name="AutoShape 7">
            <a:extLst>
              <a:ext uri="{FF2B5EF4-FFF2-40B4-BE49-F238E27FC236}">
                <a16:creationId xmlns:a16="http://schemas.microsoft.com/office/drawing/2014/main" id="{6A1DA157-53CC-DBBE-3D83-62800650455D}"/>
              </a:ext>
            </a:extLst>
          </p:cNvPr>
          <p:cNvSpPr/>
          <p:nvPr/>
        </p:nvSpPr>
        <p:spPr>
          <a:xfrm>
            <a:off x="9811016" y="5042749"/>
            <a:ext cx="7391283" cy="0"/>
          </a:xfrm>
          <a:prstGeom prst="line">
            <a:avLst/>
          </a:prstGeom>
          <a:ln w="9525" cap="flat">
            <a:solidFill>
              <a:srgbClr val="CAE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834AA5EB-ABBD-B298-5BC7-2A7340173129}"/>
              </a:ext>
            </a:extLst>
          </p:cNvPr>
          <p:cNvSpPr/>
          <p:nvPr/>
        </p:nvSpPr>
        <p:spPr>
          <a:xfrm>
            <a:off x="9811016" y="6165557"/>
            <a:ext cx="7391283" cy="0"/>
          </a:xfrm>
          <a:prstGeom prst="line">
            <a:avLst/>
          </a:prstGeom>
          <a:ln w="9525" cap="flat">
            <a:solidFill>
              <a:srgbClr val="CAE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9" name="AutoShape 9">
            <a:extLst>
              <a:ext uri="{FF2B5EF4-FFF2-40B4-BE49-F238E27FC236}">
                <a16:creationId xmlns:a16="http://schemas.microsoft.com/office/drawing/2014/main" id="{397BD9DB-8F75-3BE6-5800-7A100039DDB9}"/>
              </a:ext>
            </a:extLst>
          </p:cNvPr>
          <p:cNvSpPr/>
          <p:nvPr/>
        </p:nvSpPr>
        <p:spPr>
          <a:xfrm>
            <a:off x="9811016" y="7288364"/>
            <a:ext cx="7391283" cy="0"/>
          </a:xfrm>
          <a:prstGeom prst="line">
            <a:avLst/>
          </a:prstGeom>
          <a:ln w="9525" cap="flat">
            <a:solidFill>
              <a:srgbClr val="CAE8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E876F96-E6E5-6A6E-0D1F-8011C573AC99}"/>
              </a:ext>
            </a:extLst>
          </p:cNvPr>
          <p:cNvSpPr txBox="1"/>
          <p:nvPr/>
        </p:nvSpPr>
        <p:spPr>
          <a:xfrm>
            <a:off x="1011489" y="2401391"/>
            <a:ext cx="8132511" cy="314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72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Prevention Strategies</a:t>
            </a:r>
            <a:endParaRPr lang="en-US" sz="600" dirty="0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4F631AB0-CDB7-3C66-692D-24F42010C689}"/>
              </a:ext>
            </a:extLst>
          </p:cNvPr>
          <p:cNvSpPr/>
          <p:nvPr/>
        </p:nvSpPr>
        <p:spPr>
          <a:xfrm>
            <a:off x="9811032" y="3009900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520918" h="520918">
                <a:moveTo>
                  <a:pt x="0" y="0"/>
                </a:moveTo>
                <a:lnTo>
                  <a:pt x="520918" y="0"/>
                </a:lnTo>
                <a:lnTo>
                  <a:pt x="520918" y="520918"/>
                </a:lnTo>
                <a:lnTo>
                  <a:pt x="0" y="520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12" name="TextBox 14">
            <a:extLst>
              <a:ext uri="{FF2B5EF4-FFF2-40B4-BE49-F238E27FC236}">
                <a16:creationId xmlns:a16="http://schemas.microsoft.com/office/drawing/2014/main" id="{8B9D599E-ECB9-56E2-F579-7B6247D43F87}"/>
              </a:ext>
            </a:extLst>
          </p:cNvPr>
          <p:cNvSpPr txBox="1"/>
          <p:nvPr/>
        </p:nvSpPr>
        <p:spPr>
          <a:xfrm>
            <a:off x="10528368" y="3086100"/>
            <a:ext cx="6607311" cy="36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Cross-check readings from multiple sensors</a:t>
            </a:r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1AA128AA-ECA8-BC7A-4FB4-B9FD9ECB38F5}"/>
              </a:ext>
            </a:extLst>
          </p:cNvPr>
          <p:cNvSpPr/>
          <p:nvPr/>
        </p:nvSpPr>
        <p:spPr>
          <a:xfrm>
            <a:off x="9811017" y="4155848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520918" h="520918">
                <a:moveTo>
                  <a:pt x="0" y="0"/>
                </a:moveTo>
                <a:lnTo>
                  <a:pt x="520918" y="0"/>
                </a:lnTo>
                <a:lnTo>
                  <a:pt x="520918" y="520918"/>
                </a:lnTo>
                <a:lnTo>
                  <a:pt x="0" y="52091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 dirty="0"/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7BBB6B40-DE41-0916-7C6C-E7CEF05DBEC9}"/>
              </a:ext>
            </a:extLst>
          </p:cNvPr>
          <p:cNvSpPr txBox="1"/>
          <p:nvPr/>
        </p:nvSpPr>
        <p:spPr>
          <a:xfrm>
            <a:off x="10528368" y="4231977"/>
            <a:ext cx="6607281" cy="360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Apply smoothing to filter sudden spikes</a:t>
            </a:r>
          </a:p>
        </p:txBody>
      </p:sp>
      <p:sp>
        <p:nvSpPr>
          <p:cNvPr id="15" name="Freeform 18">
            <a:extLst>
              <a:ext uri="{FF2B5EF4-FFF2-40B4-BE49-F238E27FC236}">
                <a16:creationId xmlns:a16="http://schemas.microsoft.com/office/drawing/2014/main" id="{1A639F75-D473-9B8C-BAC7-EE22C7F22F2C}"/>
              </a:ext>
            </a:extLst>
          </p:cNvPr>
          <p:cNvSpPr/>
          <p:nvPr/>
        </p:nvSpPr>
        <p:spPr>
          <a:xfrm>
            <a:off x="9811016" y="5301796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390689" h="390689">
                <a:moveTo>
                  <a:pt x="0" y="0"/>
                </a:moveTo>
                <a:lnTo>
                  <a:pt x="390689" y="0"/>
                </a:lnTo>
                <a:lnTo>
                  <a:pt x="390689" y="390689"/>
                </a:lnTo>
                <a:lnTo>
                  <a:pt x="0" y="3906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03087063-8355-4EC9-DCCE-E9A05E1CDDCB}"/>
              </a:ext>
            </a:extLst>
          </p:cNvPr>
          <p:cNvSpPr txBox="1"/>
          <p:nvPr/>
        </p:nvSpPr>
        <p:spPr>
          <a:xfrm>
            <a:off x="10528368" y="5369287"/>
            <a:ext cx="6607280" cy="360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Install redundant sensors as backup</a:t>
            </a:r>
          </a:p>
        </p:txBody>
      </p:sp>
      <p:sp>
        <p:nvSpPr>
          <p:cNvPr id="17" name="TextBox 21">
            <a:extLst>
              <a:ext uri="{FF2B5EF4-FFF2-40B4-BE49-F238E27FC236}">
                <a16:creationId xmlns:a16="http://schemas.microsoft.com/office/drawing/2014/main" id="{F1073B74-874F-13FE-0998-BE7E6D5099DF}"/>
              </a:ext>
            </a:extLst>
          </p:cNvPr>
          <p:cNvSpPr txBox="1"/>
          <p:nvPr/>
        </p:nvSpPr>
        <p:spPr>
          <a:xfrm>
            <a:off x="10528368" y="6558247"/>
            <a:ext cx="6607280" cy="360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it-IT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Train AI on degraded data scenarios</a:t>
            </a:r>
            <a:endParaRPr lang="en-US" sz="2300" dirty="0">
              <a:solidFill>
                <a:srgbClr val="F4F6FC"/>
              </a:solidFill>
              <a:latin typeface="Libre Franklin Light"/>
              <a:ea typeface="Libre Franklin Light"/>
              <a:cs typeface="Libre Franklin Light"/>
              <a:sym typeface="Libre Franklin Light"/>
            </a:endParaRPr>
          </a:p>
        </p:txBody>
      </p:sp>
      <p:sp>
        <p:nvSpPr>
          <p:cNvPr id="18" name="TextBox 23">
            <a:extLst>
              <a:ext uri="{FF2B5EF4-FFF2-40B4-BE49-F238E27FC236}">
                <a16:creationId xmlns:a16="http://schemas.microsoft.com/office/drawing/2014/main" id="{7057FD67-BF00-5493-968A-7AE65EACA47C}"/>
              </a:ext>
            </a:extLst>
          </p:cNvPr>
          <p:cNvSpPr txBox="1"/>
          <p:nvPr/>
        </p:nvSpPr>
        <p:spPr>
          <a:xfrm>
            <a:off x="10528368" y="7643982"/>
            <a:ext cx="6607280" cy="3604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0"/>
              </a:lnSpc>
            </a:pPr>
            <a:r>
              <a:rPr lang="en-US" sz="23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Set confidence thresholds for uncertain outputs</a:t>
            </a:r>
          </a:p>
        </p:txBody>
      </p:sp>
      <p:sp>
        <p:nvSpPr>
          <p:cNvPr id="19" name="Freeform 25">
            <a:extLst>
              <a:ext uri="{FF2B5EF4-FFF2-40B4-BE49-F238E27FC236}">
                <a16:creationId xmlns:a16="http://schemas.microsoft.com/office/drawing/2014/main" id="{6A56BB15-554D-E682-EC65-9A7DEA5B8262}"/>
              </a:ext>
            </a:extLst>
          </p:cNvPr>
          <p:cNvSpPr/>
          <p:nvPr/>
        </p:nvSpPr>
        <p:spPr>
          <a:xfrm>
            <a:off x="9811016" y="6444829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390689" h="390689">
                <a:moveTo>
                  <a:pt x="0" y="0"/>
                </a:moveTo>
                <a:lnTo>
                  <a:pt x="390689" y="0"/>
                </a:lnTo>
                <a:lnTo>
                  <a:pt x="390689" y="390688"/>
                </a:lnTo>
                <a:lnTo>
                  <a:pt x="0" y="39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20" name="Freeform 26">
            <a:extLst>
              <a:ext uri="{FF2B5EF4-FFF2-40B4-BE49-F238E27FC236}">
                <a16:creationId xmlns:a16="http://schemas.microsoft.com/office/drawing/2014/main" id="{54A6792D-95C5-4421-50C0-C640EE750439}"/>
              </a:ext>
            </a:extLst>
          </p:cNvPr>
          <p:cNvSpPr/>
          <p:nvPr/>
        </p:nvSpPr>
        <p:spPr>
          <a:xfrm>
            <a:off x="9811016" y="7593691"/>
            <a:ext cx="540000" cy="540000"/>
          </a:xfrm>
          <a:custGeom>
            <a:avLst/>
            <a:gdLst/>
            <a:ahLst/>
            <a:cxnLst/>
            <a:rect l="l" t="t" r="r" b="b"/>
            <a:pathLst>
              <a:path w="390689" h="390689">
                <a:moveTo>
                  <a:pt x="0" y="0"/>
                </a:moveTo>
                <a:lnTo>
                  <a:pt x="390689" y="0"/>
                </a:lnTo>
                <a:lnTo>
                  <a:pt x="390689" y="390689"/>
                </a:lnTo>
                <a:lnTo>
                  <a:pt x="0" y="3906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cxnSp>
        <p:nvCxnSpPr>
          <p:cNvPr id="21" name="Google Shape;85;p1">
            <a:extLst>
              <a:ext uri="{FF2B5EF4-FFF2-40B4-BE49-F238E27FC236}">
                <a16:creationId xmlns:a16="http://schemas.microsoft.com/office/drawing/2014/main" id="{F6F8E8DA-E5D2-4012-F32A-A5A923168135}"/>
              </a:ext>
            </a:extLst>
          </p:cNvPr>
          <p:cNvCxnSpPr/>
          <p:nvPr/>
        </p:nvCxnSpPr>
        <p:spPr>
          <a:xfrm>
            <a:off x="1085700" y="8004402"/>
            <a:ext cx="4446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88;p1">
            <a:extLst>
              <a:ext uri="{FF2B5EF4-FFF2-40B4-BE49-F238E27FC236}">
                <a16:creationId xmlns:a16="http://schemas.microsoft.com/office/drawing/2014/main" id="{7311017F-6ADC-41F6-6C4E-64F065827AB1}"/>
              </a:ext>
            </a:extLst>
          </p:cNvPr>
          <p:cNvSpPr txBox="1"/>
          <p:nvPr/>
        </p:nvSpPr>
        <p:spPr>
          <a:xfrm>
            <a:off x="1085700" y="7255490"/>
            <a:ext cx="8058300" cy="560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8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Building resilience against data corruption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10613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B7651E-AC7F-1B9F-CF92-E9AF03641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19;g3e69c54ea80_1_141">
            <a:extLst>
              <a:ext uri="{FF2B5EF4-FFF2-40B4-BE49-F238E27FC236}">
                <a16:creationId xmlns:a16="http://schemas.microsoft.com/office/drawing/2014/main" id="{DB1C9C96-0317-077A-8951-1652B4AD596F}"/>
              </a:ext>
            </a:extLst>
          </p:cNvPr>
          <p:cNvCxnSpPr/>
          <p:nvPr/>
        </p:nvCxnSpPr>
        <p:spPr>
          <a:xfrm>
            <a:off x="1028700" y="1028700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" name="Google Shape;120;g3e69c54ea80_1_141">
            <a:extLst>
              <a:ext uri="{FF2B5EF4-FFF2-40B4-BE49-F238E27FC236}">
                <a16:creationId xmlns:a16="http://schemas.microsoft.com/office/drawing/2014/main" id="{E25F305D-57E0-54AD-6508-B519D6FEF5AD}"/>
              </a:ext>
            </a:extLst>
          </p:cNvPr>
          <p:cNvCxnSpPr/>
          <p:nvPr/>
        </p:nvCxnSpPr>
        <p:spPr>
          <a:xfrm>
            <a:off x="1028700" y="2013492"/>
            <a:ext cx="16230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" name="Google Shape;122;g3e69c54ea80_1_141">
            <a:extLst>
              <a:ext uri="{FF2B5EF4-FFF2-40B4-BE49-F238E27FC236}">
                <a16:creationId xmlns:a16="http://schemas.microsoft.com/office/drawing/2014/main" id="{088600B4-14A1-0879-95E0-BF81050F08F0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 extrusionOk="0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Google Shape;124;g3e69c54ea80_1_141">
            <a:extLst>
              <a:ext uri="{FF2B5EF4-FFF2-40B4-BE49-F238E27FC236}">
                <a16:creationId xmlns:a16="http://schemas.microsoft.com/office/drawing/2014/main" id="{58AEBB2D-7B7C-C53E-4C48-587E422753AD}"/>
              </a:ext>
            </a:extLst>
          </p:cNvPr>
          <p:cNvCxnSpPr/>
          <p:nvPr/>
        </p:nvCxnSpPr>
        <p:spPr>
          <a:xfrm>
            <a:off x="868113" y="9744461"/>
            <a:ext cx="4446600" cy="0"/>
          </a:xfrm>
          <a:prstGeom prst="straightConnector1">
            <a:avLst/>
          </a:prstGeom>
          <a:noFill/>
          <a:ln w="9525" cap="flat" cmpd="sng">
            <a:solidFill>
              <a:srgbClr val="5CB6F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" name="Google Shape;125;g3e69c54ea80_1_141">
            <a:extLst>
              <a:ext uri="{FF2B5EF4-FFF2-40B4-BE49-F238E27FC236}">
                <a16:creationId xmlns:a16="http://schemas.microsoft.com/office/drawing/2014/main" id="{416E3366-1068-4030-7FB4-05FD3C5CD45C}"/>
              </a:ext>
            </a:extLst>
          </p:cNvPr>
          <p:cNvSpPr txBox="1"/>
          <p:nvPr/>
        </p:nvSpPr>
        <p:spPr>
          <a:xfrm>
            <a:off x="6502053" y="2084447"/>
            <a:ext cx="10287000" cy="1223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sz="53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Recovery and Cleanup</a:t>
            </a:r>
            <a:endParaRPr sz="400" dirty="0"/>
          </a:p>
        </p:txBody>
      </p:sp>
      <p:sp>
        <p:nvSpPr>
          <p:cNvPr id="9" name="Google Shape;126;g3e69c54ea80_1_141">
            <a:extLst>
              <a:ext uri="{FF2B5EF4-FFF2-40B4-BE49-F238E27FC236}">
                <a16:creationId xmlns:a16="http://schemas.microsoft.com/office/drawing/2014/main" id="{FE8DF87C-6219-E92E-424C-24AE74F40853}"/>
              </a:ext>
            </a:extLst>
          </p:cNvPr>
          <p:cNvSpPr txBox="1"/>
          <p:nvPr/>
        </p:nvSpPr>
        <p:spPr>
          <a:xfrm>
            <a:off x="6579753" y="3235574"/>
            <a:ext cx="10131600" cy="4601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lvl="0">
              <a:lnSpc>
                <a:spcPct val="130000"/>
              </a:lnSpc>
            </a:pPr>
            <a:r>
              <a:rPr lang="en-US" sz="2300" dirty="0">
                <a:solidFill>
                  <a:schemeClr val="accent1">
                    <a:lumMod val="40000"/>
                    <a:lumOff val="60000"/>
                  </a:schemeClr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Restoring integrity after corruption occurs</a:t>
            </a:r>
            <a:endParaRPr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pic>
        <p:nvPicPr>
          <p:cNvPr id="10" name="Google Shape;127;g3e69c54ea80_1_141">
            <a:extLst>
              <a:ext uri="{FF2B5EF4-FFF2-40B4-BE49-F238E27FC236}">
                <a16:creationId xmlns:a16="http://schemas.microsoft.com/office/drawing/2014/main" id="{BDBB1B01-F221-1DF2-8903-067C78550575}"/>
              </a:ext>
            </a:extLst>
          </p:cNvPr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22" r="12822"/>
          <a:stretch/>
        </p:blipFill>
        <p:spPr>
          <a:xfrm>
            <a:off x="707525" y="2789175"/>
            <a:ext cx="4767900" cy="6412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sp>
        <p:nvSpPr>
          <p:cNvPr id="11" name="Google Shape;194;g3e69c54ea80_1_333">
            <a:extLst>
              <a:ext uri="{FF2B5EF4-FFF2-40B4-BE49-F238E27FC236}">
                <a16:creationId xmlns:a16="http://schemas.microsoft.com/office/drawing/2014/main" id="{C8C6C07A-7804-CD05-812B-8303A347E619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Bad Data, Bad Decisions: AI in Harsh Environments</a:t>
            </a:r>
          </a:p>
        </p:txBody>
      </p:sp>
      <p:graphicFrame>
        <p:nvGraphicFramePr>
          <p:cNvPr id="17" name="Google Shape;123;g3e69c54ea80_1_141">
            <a:extLst>
              <a:ext uri="{FF2B5EF4-FFF2-40B4-BE49-F238E27FC236}">
                <a16:creationId xmlns:a16="http://schemas.microsoft.com/office/drawing/2014/main" id="{324797D1-78C2-7ABD-DD11-E85468299D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06112871"/>
              </p:ext>
            </p:extLst>
          </p:nvPr>
        </p:nvGraphicFramePr>
        <p:xfrm>
          <a:off x="6382950" y="4458986"/>
          <a:ext cx="11271600" cy="44242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2614332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7380C92-F7C7-D73F-4FB2-E673A40E5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2">
            <a:extLst>
              <a:ext uri="{FF2B5EF4-FFF2-40B4-BE49-F238E27FC236}">
                <a16:creationId xmlns:a16="http://schemas.microsoft.com/office/drawing/2014/main" id="{B753F96B-1366-904D-95DD-4B858DCDC21E}"/>
              </a:ext>
            </a:extLst>
          </p:cNvPr>
          <p:cNvSpPr txBox="1"/>
          <p:nvPr/>
        </p:nvSpPr>
        <p:spPr>
          <a:xfrm>
            <a:off x="1028700" y="2783527"/>
            <a:ext cx="6749849" cy="26736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800"/>
              </a:lnSpc>
            </a:pPr>
            <a:r>
              <a:rPr lang="en-US" sz="8000" dirty="0">
                <a:solidFill>
                  <a:srgbClr val="F4F6FC"/>
                </a:solidFill>
                <a:latin typeface="Libre Franklin Thin"/>
                <a:ea typeface="Libre Franklin Thin"/>
                <a:cs typeface="Libre Franklin Thin"/>
                <a:sym typeface="Libre Franklin Thin"/>
              </a:rPr>
              <a:t>Key Takeaways</a:t>
            </a:r>
          </a:p>
        </p:txBody>
      </p:sp>
      <p:sp>
        <p:nvSpPr>
          <p:cNvPr id="13" name="AutoShape 4">
            <a:extLst>
              <a:ext uri="{FF2B5EF4-FFF2-40B4-BE49-F238E27FC236}">
                <a16:creationId xmlns:a16="http://schemas.microsoft.com/office/drawing/2014/main" id="{2A0CF9EF-CA13-5AE1-8019-9FDF9A1AA4A3}"/>
              </a:ext>
            </a:extLst>
          </p:cNvPr>
          <p:cNvSpPr/>
          <p:nvPr/>
        </p:nvSpPr>
        <p:spPr>
          <a:xfrm>
            <a:off x="1028700" y="1028700"/>
            <a:ext cx="16230600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4" name="AutoShape 5">
            <a:extLst>
              <a:ext uri="{FF2B5EF4-FFF2-40B4-BE49-F238E27FC236}">
                <a16:creationId xmlns:a16="http://schemas.microsoft.com/office/drawing/2014/main" id="{7C77B22B-81E9-D882-C7DC-A400765A4E86}"/>
              </a:ext>
            </a:extLst>
          </p:cNvPr>
          <p:cNvSpPr/>
          <p:nvPr/>
        </p:nvSpPr>
        <p:spPr>
          <a:xfrm>
            <a:off x="1028700" y="2013492"/>
            <a:ext cx="16230600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4DF471F4-8991-07CD-481D-7C91C4824236}"/>
              </a:ext>
            </a:extLst>
          </p:cNvPr>
          <p:cNvSpPr/>
          <p:nvPr/>
        </p:nvSpPr>
        <p:spPr>
          <a:xfrm>
            <a:off x="1044444" y="1028700"/>
            <a:ext cx="2411720" cy="943586"/>
          </a:xfrm>
          <a:custGeom>
            <a:avLst/>
            <a:gdLst/>
            <a:ahLst/>
            <a:cxnLst/>
            <a:rect l="l" t="t" r="r" b="b"/>
            <a:pathLst>
              <a:path w="2411720" h="943586">
                <a:moveTo>
                  <a:pt x="0" y="0"/>
                </a:moveTo>
                <a:lnTo>
                  <a:pt x="2411720" y="0"/>
                </a:lnTo>
                <a:lnTo>
                  <a:pt x="2411720" y="943586"/>
                </a:lnTo>
                <a:lnTo>
                  <a:pt x="0" y="943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MY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016F49-4EA6-E83C-1A57-0D5D57BEDF6D}"/>
              </a:ext>
            </a:extLst>
          </p:cNvPr>
          <p:cNvSpPr txBox="1"/>
          <p:nvPr/>
        </p:nvSpPr>
        <p:spPr>
          <a:xfrm>
            <a:off x="9144000" y="2783527"/>
            <a:ext cx="8115300" cy="44607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Always question your data sources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Context matters more than raw numbers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Build in human oversight points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Start small and verify before scaling</a:t>
            </a:r>
          </a:p>
          <a:p>
            <a:pPr marL="342900" indent="-342900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Plan for sensor failures from day one</a:t>
            </a:r>
          </a:p>
        </p:txBody>
      </p:sp>
      <p:sp>
        <p:nvSpPr>
          <p:cNvPr id="17" name="AutoShape 3">
            <a:extLst>
              <a:ext uri="{FF2B5EF4-FFF2-40B4-BE49-F238E27FC236}">
                <a16:creationId xmlns:a16="http://schemas.microsoft.com/office/drawing/2014/main" id="{41D245B8-AF97-110E-C3BD-FEADBB19E482}"/>
              </a:ext>
            </a:extLst>
          </p:cNvPr>
          <p:cNvSpPr/>
          <p:nvPr/>
        </p:nvSpPr>
        <p:spPr>
          <a:xfrm>
            <a:off x="1085745" y="7611937"/>
            <a:ext cx="4446467" cy="0"/>
          </a:xfrm>
          <a:prstGeom prst="line">
            <a:avLst/>
          </a:prstGeom>
          <a:ln w="9525" cap="flat">
            <a:solidFill>
              <a:srgbClr val="5CB6F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MY"/>
          </a:p>
        </p:txBody>
      </p:sp>
      <p:sp>
        <p:nvSpPr>
          <p:cNvPr id="18" name="TextBox 6">
            <a:extLst>
              <a:ext uri="{FF2B5EF4-FFF2-40B4-BE49-F238E27FC236}">
                <a16:creationId xmlns:a16="http://schemas.microsoft.com/office/drawing/2014/main" id="{65BA5948-A775-BA7C-8C71-8FC30454EAD0}"/>
              </a:ext>
            </a:extLst>
          </p:cNvPr>
          <p:cNvSpPr txBox="1"/>
          <p:nvPr/>
        </p:nvSpPr>
        <p:spPr>
          <a:xfrm>
            <a:off x="1085745" y="6591300"/>
            <a:ext cx="8058255" cy="863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00"/>
              </a:lnSpc>
            </a:pPr>
            <a:r>
              <a:rPr lang="en-US" sz="25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Essential principles for reliable AI in harsh environments</a:t>
            </a:r>
          </a:p>
        </p:txBody>
      </p:sp>
      <p:sp>
        <p:nvSpPr>
          <p:cNvPr id="2" name="Google Shape;194;g3e69c54ea80_1_333">
            <a:extLst>
              <a:ext uri="{FF2B5EF4-FFF2-40B4-BE49-F238E27FC236}">
                <a16:creationId xmlns:a16="http://schemas.microsoft.com/office/drawing/2014/main" id="{D02BA60A-EB1C-0A69-BF36-EA11B2612CF0}"/>
              </a:ext>
            </a:extLst>
          </p:cNvPr>
          <p:cNvSpPr txBox="1"/>
          <p:nvPr/>
        </p:nvSpPr>
        <p:spPr>
          <a:xfrm>
            <a:off x="9220200" y="1336080"/>
            <a:ext cx="8039100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r">
              <a:lnSpc>
                <a:spcPct val="115000"/>
              </a:lnSpc>
            </a:pPr>
            <a:r>
              <a:rPr lang="en-US" sz="2000" dirty="0">
                <a:solidFill>
                  <a:srgbClr val="F4F6FC"/>
                </a:solidFill>
                <a:latin typeface="Libre Franklin Light"/>
                <a:ea typeface="Libre Franklin Light"/>
                <a:cs typeface="Libre Franklin Light"/>
                <a:sym typeface="Libre Franklin Light"/>
              </a:rPr>
              <a:t>Bad Data, Bad Decisions: AI in Harsh Environments</a:t>
            </a:r>
          </a:p>
        </p:txBody>
      </p:sp>
    </p:spTree>
    <p:extLst>
      <p:ext uri="{BB962C8B-B14F-4D97-AF65-F5344CB8AC3E}">
        <p14:creationId xmlns:p14="http://schemas.microsoft.com/office/powerpoint/2010/main" val="3541671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420</Words>
  <Application>Microsoft Office PowerPoint</Application>
  <PresentationFormat>Custom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Libre Franklin Thin</vt:lpstr>
      <vt:lpstr>Libre Franklin Medium</vt:lpstr>
      <vt:lpstr>Libre Franklin</vt:lpstr>
      <vt:lpstr>Libre Franklin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AISEC Course Slides</dc:title>
  <dc:creator>Kaisha's Rig</dc:creator>
  <cp:lastModifiedBy>Kaisha Balkish</cp:lastModifiedBy>
  <cp:revision>28</cp:revision>
  <dcterms:created xsi:type="dcterms:W3CDTF">2006-08-16T00:00:00Z</dcterms:created>
  <dcterms:modified xsi:type="dcterms:W3CDTF">2026-05-07T10:43:54Z</dcterms:modified>
  <dc:identifier>DAGxKB2NCss</dc:identifier>
</cp:coreProperties>
</file>