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26" r:id="rId3"/>
    <p:sldId id="260" r:id="rId4"/>
    <p:sldId id="325" r:id="rId5"/>
    <p:sldId id="320" r:id="rId6"/>
    <p:sldId id="317" r:id="rId7"/>
    <p:sldId id="322" r:id="rId8"/>
    <p:sldId id="318" r:id="rId9"/>
    <p:sldId id="314" r:id="rId10"/>
  </p:sldIdLst>
  <p:sldSz cx="18288000" cy="10287000"/>
  <p:notesSz cx="6858000" cy="9144000"/>
  <p:embeddedFontLst>
    <p:embeddedFont>
      <p:font typeface="Libre Franklin" pitchFamily="2" charset="0"/>
      <p:regular r:id="rId11"/>
      <p:bold r:id="rId12"/>
      <p:italic r:id="rId13"/>
      <p:boldItalic r:id="rId14"/>
    </p:embeddedFont>
    <p:embeddedFont>
      <p:font typeface="Libre Franklin Light" pitchFamily="2" charset="0"/>
      <p:regular r:id="rId15"/>
      <p:italic r:id="rId16"/>
    </p:embeddedFont>
    <p:embeddedFont>
      <p:font typeface="Libre Franklin Thin" pitchFamily="2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B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3" autoAdjust="0"/>
    <p:restoredTop sz="94682" autoAdjust="0"/>
  </p:normalViewPr>
  <p:slideViewPr>
    <p:cSldViewPr>
      <p:cViewPr varScale="1">
        <p:scale>
          <a:sx n="52" d="100"/>
          <a:sy n="52" d="100"/>
        </p:scale>
        <p:origin x="70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9E1BDF-F2F7-44A0-8E38-7DB35E33A08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2DE203-3C98-4309-A09E-6D712371A0E1}">
      <dgm:prSet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 algn="ctr"/>
          <a:r>
            <a:rPr lang="en-MY" dirty="0">
              <a:latin typeface="Libre Franklin Light" pitchFamily="2" charset="0"/>
            </a:rPr>
            <a:t>Attackers intercept or replace legitimate sensor communications</a:t>
          </a:r>
          <a:endParaRPr lang="en-US" dirty="0">
            <a:latin typeface="Libre Franklin Light" pitchFamily="2" charset="0"/>
          </a:endParaRPr>
        </a:p>
      </dgm:t>
    </dgm:pt>
    <dgm:pt modelId="{DFE56602-2D78-48D9-A61D-9CD2132E8C4C}" type="parTrans" cxnId="{C8BD6C72-4643-4F57-9C10-CDF5E7E0AF9E}">
      <dgm:prSet/>
      <dgm:spPr/>
      <dgm:t>
        <a:bodyPr/>
        <a:lstStyle/>
        <a:p>
          <a:endParaRPr lang="en-US"/>
        </a:p>
      </dgm:t>
    </dgm:pt>
    <dgm:pt modelId="{1C5B72A6-1412-42B7-ABE2-F9048736D6A0}" type="sibTrans" cxnId="{C8BD6C72-4643-4F57-9C10-CDF5E7E0AF9E}">
      <dgm:prSet/>
      <dgm:spPr/>
      <dgm:t>
        <a:bodyPr/>
        <a:lstStyle/>
        <a:p>
          <a:endParaRPr lang="en-US"/>
        </a:p>
      </dgm:t>
    </dgm:pt>
    <dgm:pt modelId="{E144F98B-E692-4CD7-9E90-CB13BCA2EA6E}">
      <dgm:prSet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 algn="ctr"/>
          <a:r>
            <a:rPr lang="en-US" dirty="0">
              <a:latin typeface="Libre Franklin Light" pitchFamily="2" charset="0"/>
            </a:rPr>
            <a:t>False data is injected between sensors and control systems</a:t>
          </a:r>
        </a:p>
      </dgm:t>
    </dgm:pt>
    <dgm:pt modelId="{ECB78DB1-ECB2-43FC-A8E5-8E2AD000C127}" type="parTrans" cxnId="{D46A9124-0DC3-4F82-8894-3A56D8A6AB3A}">
      <dgm:prSet/>
      <dgm:spPr/>
      <dgm:t>
        <a:bodyPr/>
        <a:lstStyle/>
        <a:p>
          <a:endParaRPr lang="en-US"/>
        </a:p>
      </dgm:t>
    </dgm:pt>
    <dgm:pt modelId="{BFE6B697-DB44-4D9A-AD38-DC2CF08D100D}" type="sibTrans" cxnId="{D46A9124-0DC3-4F82-8894-3A56D8A6AB3A}">
      <dgm:prSet/>
      <dgm:spPr/>
      <dgm:t>
        <a:bodyPr/>
        <a:lstStyle/>
        <a:p>
          <a:endParaRPr lang="en-US"/>
        </a:p>
      </dgm:t>
    </dgm:pt>
    <dgm:pt modelId="{7CDDD048-A0BB-4513-8011-23E28D835763}">
      <dgm:prSet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 algn="ctr"/>
          <a:r>
            <a:rPr lang="en-US" dirty="0">
              <a:latin typeface="Libre Franklin Light" pitchFamily="2" charset="0"/>
            </a:rPr>
            <a:t>Systems trust incoming data without verifying its authenticity</a:t>
          </a:r>
        </a:p>
      </dgm:t>
    </dgm:pt>
    <dgm:pt modelId="{5C44B877-5D87-4CF3-BC5A-CEBCA30AB043}" type="parTrans" cxnId="{B97EFDFC-92A1-417D-8828-71082752CC32}">
      <dgm:prSet/>
      <dgm:spPr/>
      <dgm:t>
        <a:bodyPr/>
        <a:lstStyle/>
        <a:p>
          <a:endParaRPr lang="en-US"/>
        </a:p>
      </dgm:t>
    </dgm:pt>
    <dgm:pt modelId="{15B4FA5C-9747-4E01-83CF-E00F83A03806}" type="sibTrans" cxnId="{B97EFDFC-92A1-417D-8828-71082752CC32}">
      <dgm:prSet/>
      <dgm:spPr/>
      <dgm:t>
        <a:bodyPr/>
        <a:lstStyle/>
        <a:p>
          <a:endParaRPr lang="en-US"/>
        </a:p>
      </dgm:t>
    </dgm:pt>
    <dgm:pt modelId="{6EF03674-2852-4877-97D2-31130E60841C}">
      <dgm:prSet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 algn="ctr"/>
          <a:r>
            <a:rPr lang="en-US" dirty="0">
              <a:latin typeface="Libre Franklin Light" pitchFamily="2" charset="0"/>
            </a:rPr>
            <a:t>Automated responses trigger based on fabricated readings</a:t>
          </a:r>
        </a:p>
      </dgm:t>
    </dgm:pt>
    <dgm:pt modelId="{117A70C8-7502-48A0-A06F-2CEEA4B4FE27}" type="parTrans" cxnId="{429AAFC7-A42D-42B7-974C-201192FEB49B}">
      <dgm:prSet/>
      <dgm:spPr/>
      <dgm:t>
        <a:bodyPr/>
        <a:lstStyle/>
        <a:p>
          <a:endParaRPr lang="en-US"/>
        </a:p>
      </dgm:t>
    </dgm:pt>
    <dgm:pt modelId="{5D111309-ED29-4EFA-BA18-4AAA07348C4D}" type="sibTrans" cxnId="{429AAFC7-A42D-42B7-974C-201192FEB49B}">
      <dgm:prSet/>
      <dgm:spPr/>
      <dgm:t>
        <a:bodyPr/>
        <a:lstStyle/>
        <a:p>
          <a:endParaRPr lang="en-US"/>
        </a:p>
      </dgm:t>
    </dgm:pt>
    <dgm:pt modelId="{CBBE0DAB-B6C2-4AEE-B895-E97497A4C533}">
      <dgm:prSet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pPr algn="ctr"/>
          <a:r>
            <a:rPr lang="en-US" dirty="0">
              <a:latin typeface="Libre Franklin Light" pitchFamily="2" charset="0"/>
            </a:rPr>
            <a:t>No physical access to equipment required—attacks happen through data streams</a:t>
          </a:r>
        </a:p>
      </dgm:t>
    </dgm:pt>
    <dgm:pt modelId="{547CCF2E-2D72-4A24-931C-A32EC2F5C780}" type="parTrans" cxnId="{727ACDDD-5BB4-4B8F-AB1D-4CC92F9D5A2D}">
      <dgm:prSet/>
      <dgm:spPr/>
      <dgm:t>
        <a:bodyPr/>
        <a:lstStyle/>
        <a:p>
          <a:endParaRPr lang="en-US"/>
        </a:p>
      </dgm:t>
    </dgm:pt>
    <dgm:pt modelId="{0C0E44A5-BBF6-4574-B6BB-E18433BD8459}" type="sibTrans" cxnId="{727ACDDD-5BB4-4B8F-AB1D-4CC92F9D5A2D}">
      <dgm:prSet/>
      <dgm:spPr/>
      <dgm:t>
        <a:bodyPr/>
        <a:lstStyle/>
        <a:p>
          <a:endParaRPr lang="en-US"/>
        </a:p>
      </dgm:t>
    </dgm:pt>
    <dgm:pt modelId="{9993F1C1-751F-42D2-AB6F-44AD69A51858}" type="pres">
      <dgm:prSet presAssocID="{E79E1BDF-F2F7-44A0-8E38-7DB35E33A089}" presName="linear" presStyleCnt="0">
        <dgm:presLayoutVars>
          <dgm:animLvl val="lvl"/>
          <dgm:resizeHandles val="exact"/>
        </dgm:presLayoutVars>
      </dgm:prSet>
      <dgm:spPr/>
    </dgm:pt>
    <dgm:pt modelId="{E235D5DB-5455-42A8-9A1E-027FD452BEED}" type="pres">
      <dgm:prSet presAssocID="{9A2DE203-3C98-4309-A09E-6D712371A0E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459D7A1-C4BC-4E28-B54F-FEA0D77F0049}" type="pres">
      <dgm:prSet presAssocID="{1C5B72A6-1412-42B7-ABE2-F9048736D6A0}" presName="spacer" presStyleCnt="0"/>
      <dgm:spPr/>
    </dgm:pt>
    <dgm:pt modelId="{BF907275-D476-45F8-82C1-0B9340D638A2}" type="pres">
      <dgm:prSet presAssocID="{E144F98B-E692-4CD7-9E90-CB13BCA2EA6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78D5BF0-1B28-4378-BC9E-9BC0F292F291}" type="pres">
      <dgm:prSet presAssocID="{BFE6B697-DB44-4D9A-AD38-DC2CF08D100D}" presName="spacer" presStyleCnt="0"/>
      <dgm:spPr/>
    </dgm:pt>
    <dgm:pt modelId="{4BADD4BE-5ADC-4CD9-B94F-D7924BAB0C19}" type="pres">
      <dgm:prSet presAssocID="{7CDDD048-A0BB-4513-8011-23E28D83576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0177628-B19F-459F-955F-EFEE87098BBE}" type="pres">
      <dgm:prSet presAssocID="{15B4FA5C-9747-4E01-83CF-E00F83A03806}" presName="spacer" presStyleCnt="0"/>
      <dgm:spPr/>
    </dgm:pt>
    <dgm:pt modelId="{8AA0162E-2835-4124-94AC-1BF984C1F73C}" type="pres">
      <dgm:prSet presAssocID="{6EF03674-2852-4877-97D2-31130E60841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1F70379-8DD9-4EA4-A338-4D66ED10C5F9}" type="pres">
      <dgm:prSet presAssocID="{5D111309-ED29-4EFA-BA18-4AAA07348C4D}" presName="spacer" presStyleCnt="0"/>
      <dgm:spPr/>
    </dgm:pt>
    <dgm:pt modelId="{6494B951-1158-46BE-B3D9-E8ECF8C35EA5}" type="pres">
      <dgm:prSet presAssocID="{CBBE0DAB-B6C2-4AEE-B895-E97497A4C53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46A9124-0DC3-4F82-8894-3A56D8A6AB3A}" srcId="{E79E1BDF-F2F7-44A0-8E38-7DB35E33A089}" destId="{E144F98B-E692-4CD7-9E90-CB13BCA2EA6E}" srcOrd="1" destOrd="0" parTransId="{ECB78DB1-ECB2-43FC-A8E5-8E2AD000C127}" sibTransId="{BFE6B697-DB44-4D9A-AD38-DC2CF08D100D}"/>
    <dgm:cxn modelId="{19C93D26-88DC-4CF4-8467-959F8E19CE0B}" type="presOf" srcId="{CBBE0DAB-B6C2-4AEE-B895-E97497A4C533}" destId="{6494B951-1158-46BE-B3D9-E8ECF8C35EA5}" srcOrd="0" destOrd="0" presId="urn:microsoft.com/office/officeart/2005/8/layout/vList2"/>
    <dgm:cxn modelId="{C8BD6C72-4643-4F57-9C10-CDF5E7E0AF9E}" srcId="{E79E1BDF-F2F7-44A0-8E38-7DB35E33A089}" destId="{9A2DE203-3C98-4309-A09E-6D712371A0E1}" srcOrd="0" destOrd="0" parTransId="{DFE56602-2D78-48D9-A61D-9CD2132E8C4C}" sibTransId="{1C5B72A6-1412-42B7-ABE2-F9048736D6A0}"/>
    <dgm:cxn modelId="{F23A5F7B-60A6-43C3-B9E6-6F0E71C44B1F}" type="presOf" srcId="{7CDDD048-A0BB-4513-8011-23E28D835763}" destId="{4BADD4BE-5ADC-4CD9-B94F-D7924BAB0C19}" srcOrd="0" destOrd="0" presId="urn:microsoft.com/office/officeart/2005/8/layout/vList2"/>
    <dgm:cxn modelId="{CBBFFA7E-F1A4-46EE-8B13-8858ABEFAC9B}" type="presOf" srcId="{6EF03674-2852-4877-97D2-31130E60841C}" destId="{8AA0162E-2835-4124-94AC-1BF984C1F73C}" srcOrd="0" destOrd="0" presId="urn:microsoft.com/office/officeart/2005/8/layout/vList2"/>
    <dgm:cxn modelId="{BD1252A9-1F9A-4B9D-9AFC-9D084A55BE70}" type="presOf" srcId="{E144F98B-E692-4CD7-9E90-CB13BCA2EA6E}" destId="{BF907275-D476-45F8-82C1-0B9340D638A2}" srcOrd="0" destOrd="0" presId="urn:microsoft.com/office/officeart/2005/8/layout/vList2"/>
    <dgm:cxn modelId="{429AAFC7-A42D-42B7-974C-201192FEB49B}" srcId="{E79E1BDF-F2F7-44A0-8E38-7DB35E33A089}" destId="{6EF03674-2852-4877-97D2-31130E60841C}" srcOrd="3" destOrd="0" parTransId="{117A70C8-7502-48A0-A06F-2CEEA4B4FE27}" sibTransId="{5D111309-ED29-4EFA-BA18-4AAA07348C4D}"/>
    <dgm:cxn modelId="{727ACDDD-5BB4-4B8F-AB1D-4CC92F9D5A2D}" srcId="{E79E1BDF-F2F7-44A0-8E38-7DB35E33A089}" destId="{CBBE0DAB-B6C2-4AEE-B895-E97497A4C533}" srcOrd="4" destOrd="0" parTransId="{547CCF2E-2D72-4A24-931C-A32EC2F5C780}" sibTransId="{0C0E44A5-BBF6-4574-B6BB-E18433BD8459}"/>
    <dgm:cxn modelId="{2AD19FEC-5C3F-4826-ACDA-A3E71F7D4321}" type="presOf" srcId="{E79E1BDF-F2F7-44A0-8E38-7DB35E33A089}" destId="{9993F1C1-751F-42D2-AB6F-44AD69A51858}" srcOrd="0" destOrd="0" presId="urn:microsoft.com/office/officeart/2005/8/layout/vList2"/>
    <dgm:cxn modelId="{371D30F0-F3B1-4619-962A-9799B89D0974}" type="presOf" srcId="{9A2DE203-3C98-4309-A09E-6D712371A0E1}" destId="{E235D5DB-5455-42A8-9A1E-027FD452BEED}" srcOrd="0" destOrd="0" presId="urn:microsoft.com/office/officeart/2005/8/layout/vList2"/>
    <dgm:cxn modelId="{B97EFDFC-92A1-417D-8828-71082752CC32}" srcId="{E79E1BDF-F2F7-44A0-8E38-7DB35E33A089}" destId="{7CDDD048-A0BB-4513-8011-23E28D835763}" srcOrd="2" destOrd="0" parTransId="{5C44B877-5D87-4CF3-BC5A-CEBCA30AB043}" sibTransId="{15B4FA5C-9747-4E01-83CF-E00F83A03806}"/>
    <dgm:cxn modelId="{8C784B57-2C45-44F9-AC29-E79F1E673B5A}" type="presParOf" srcId="{9993F1C1-751F-42D2-AB6F-44AD69A51858}" destId="{E235D5DB-5455-42A8-9A1E-027FD452BEED}" srcOrd="0" destOrd="0" presId="urn:microsoft.com/office/officeart/2005/8/layout/vList2"/>
    <dgm:cxn modelId="{41219055-B488-4729-9D09-35F3D9EB422D}" type="presParOf" srcId="{9993F1C1-751F-42D2-AB6F-44AD69A51858}" destId="{5459D7A1-C4BC-4E28-B54F-FEA0D77F0049}" srcOrd="1" destOrd="0" presId="urn:microsoft.com/office/officeart/2005/8/layout/vList2"/>
    <dgm:cxn modelId="{1C2355A7-6EF9-4597-8AE0-B12AF11003A0}" type="presParOf" srcId="{9993F1C1-751F-42D2-AB6F-44AD69A51858}" destId="{BF907275-D476-45F8-82C1-0B9340D638A2}" srcOrd="2" destOrd="0" presId="urn:microsoft.com/office/officeart/2005/8/layout/vList2"/>
    <dgm:cxn modelId="{56ADBEC9-718E-49DA-9941-844F6373A9D6}" type="presParOf" srcId="{9993F1C1-751F-42D2-AB6F-44AD69A51858}" destId="{B78D5BF0-1B28-4378-BC9E-9BC0F292F291}" srcOrd="3" destOrd="0" presId="urn:microsoft.com/office/officeart/2005/8/layout/vList2"/>
    <dgm:cxn modelId="{5E62BA2B-5971-4F9F-8CCF-2118493B6233}" type="presParOf" srcId="{9993F1C1-751F-42D2-AB6F-44AD69A51858}" destId="{4BADD4BE-5ADC-4CD9-B94F-D7924BAB0C19}" srcOrd="4" destOrd="0" presId="urn:microsoft.com/office/officeart/2005/8/layout/vList2"/>
    <dgm:cxn modelId="{8CC8E4B9-F011-4936-9C05-2924653D0D3B}" type="presParOf" srcId="{9993F1C1-751F-42D2-AB6F-44AD69A51858}" destId="{00177628-B19F-459F-955F-EFEE87098BBE}" srcOrd="5" destOrd="0" presId="urn:microsoft.com/office/officeart/2005/8/layout/vList2"/>
    <dgm:cxn modelId="{D209B623-6735-4475-8D38-B2B615798DDB}" type="presParOf" srcId="{9993F1C1-751F-42D2-AB6F-44AD69A51858}" destId="{8AA0162E-2835-4124-94AC-1BF984C1F73C}" srcOrd="6" destOrd="0" presId="urn:microsoft.com/office/officeart/2005/8/layout/vList2"/>
    <dgm:cxn modelId="{282D0FDB-39EE-4563-9CB4-CB3742CC238D}" type="presParOf" srcId="{9993F1C1-751F-42D2-AB6F-44AD69A51858}" destId="{41F70379-8DD9-4EA4-A338-4D66ED10C5F9}" srcOrd="7" destOrd="0" presId="urn:microsoft.com/office/officeart/2005/8/layout/vList2"/>
    <dgm:cxn modelId="{622C5651-C72B-4FEF-A2C8-616818199578}" type="presParOf" srcId="{9993F1C1-751F-42D2-AB6F-44AD69A51858}" destId="{6494B951-1158-46BE-B3D9-E8ECF8C35EA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9E1BDF-F2F7-44A0-8E38-7DB35E33A08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2DE203-3C98-4309-A09E-6D712371A0E1}">
      <dgm:prSet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>
              <a:latin typeface="Libre Franklin Light" pitchFamily="2" charset="0"/>
            </a:rPr>
            <a:t>Power grid sensors manipulated to hide system overloads</a:t>
          </a:r>
        </a:p>
      </dgm:t>
    </dgm:pt>
    <dgm:pt modelId="{DFE56602-2D78-48D9-A61D-9CD2132E8C4C}" type="parTrans" cxnId="{C8BD6C72-4643-4F57-9C10-CDF5E7E0AF9E}">
      <dgm:prSet/>
      <dgm:spPr/>
      <dgm:t>
        <a:bodyPr/>
        <a:lstStyle/>
        <a:p>
          <a:endParaRPr lang="en-US"/>
        </a:p>
      </dgm:t>
    </dgm:pt>
    <dgm:pt modelId="{1C5B72A6-1412-42B7-ABE2-F9048736D6A0}" type="sibTrans" cxnId="{C8BD6C72-4643-4F57-9C10-CDF5E7E0AF9E}">
      <dgm:prSet/>
      <dgm:spPr/>
      <dgm:t>
        <a:bodyPr/>
        <a:lstStyle/>
        <a:p>
          <a:endParaRPr lang="en-US"/>
        </a:p>
      </dgm:t>
    </dgm:pt>
    <dgm:pt modelId="{E144F98B-E692-4CD7-9E90-CB13BCA2EA6E}">
      <dgm:prSet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>
              <a:latin typeface="Libre Franklin Light" pitchFamily="2" charset="0"/>
            </a:rPr>
            <a:t>Water treatment readings spoofed to mask contamination</a:t>
          </a:r>
        </a:p>
      </dgm:t>
    </dgm:pt>
    <dgm:pt modelId="{ECB78DB1-ECB2-43FC-A8E5-8E2AD000C127}" type="parTrans" cxnId="{D46A9124-0DC3-4F82-8894-3A56D8A6AB3A}">
      <dgm:prSet/>
      <dgm:spPr/>
      <dgm:t>
        <a:bodyPr/>
        <a:lstStyle/>
        <a:p>
          <a:endParaRPr lang="en-US"/>
        </a:p>
      </dgm:t>
    </dgm:pt>
    <dgm:pt modelId="{BFE6B697-DB44-4D9A-AD38-DC2CF08D100D}" type="sibTrans" cxnId="{D46A9124-0DC3-4F82-8894-3A56D8A6AB3A}">
      <dgm:prSet/>
      <dgm:spPr/>
      <dgm:t>
        <a:bodyPr/>
        <a:lstStyle/>
        <a:p>
          <a:endParaRPr lang="en-US"/>
        </a:p>
      </dgm:t>
    </dgm:pt>
    <dgm:pt modelId="{7CDDD048-A0BB-4513-8011-23E28D835763}">
      <dgm:prSet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>
              <a:latin typeface="Libre Franklin Light" pitchFamily="2" charset="0"/>
            </a:rPr>
            <a:t>Nuclear facility centrifuges destroyed by Stuxnet malware</a:t>
          </a:r>
        </a:p>
      </dgm:t>
    </dgm:pt>
    <dgm:pt modelId="{5C44B877-5D87-4CF3-BC5A-CEBCA30AB043}" type="parTrans" cxnId="{B97EFDFC-92A1-417D-8828-71082752CC32}">
      <dgm:prSet/>
      <dgm:spPr/>
      <dgm:t>
        <a:bodyPr/>
        <a:lstStyle/>
        <a:p>
          <a:endParaRPr lang="en-US"/>
        </a:p>
      </dgm:t>
    </dgm:pt>
    <dgm:pt modelId="{15B4FA5C-9747-4E01-83CF-E00F83A03806}" type="sibTrans" cxnId="{B97EFDFC-92A1-417D-8828-71082752CC32}">
      <dgm:prSet/>
      <dgm:spPr/>
      <dgm:t>
        <a:bodyPr/>
        <a:lstStyle/>
        <a:p>
          <a:endParaRPr lang="en-US"/>
        </a:p>
      </dgm:t>
    </dgm:pt>
    <dgm:pt modelId="{6EF03674-2852-4877-97D2-31130E60841C}">
      <dgm:prSet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>
              <a:latin typeface="Libre Franklin Light" pitchFamily="2" charset="0"/>
            </a:rPr>
            <a:t>Industrial control systems fed false temperature and pressure data</a:t>
          </a:r>
        </a:p>
      </dgm:t>
    </dgm:pt>
    <dgm:pt modelId="{117A70C8-7502-48A0-A06F-2CEEA4B4FE27}" type="parTrans" cxnId="{429AAFC7-A42D-42B7-974C-201192FEB49B}">
      <dgm:prSet/>
      <dgm:spPr/>
      <dgm:t>
        <a:bodyPr/>
        <a:lstStyle/>
        <a:p>
          <a:endParaRPr lang="en-US"/>
        </a:p>
      </dgm:t>
    </dgm:pt>
    <dgm:pt modelId="{5D111309-ED29-4EFA-BA18-4AAA07348C4D}" type="sibTrans" cxnId="{429AAFC7-A42D-42B7-974C-201192FEB49B}">
      <dgm:prSet/>
      <dgm:spPr/>
      <dgm:t>
        <a:bodyPr/>
        <a:lstStyle/>
        <a:p>
          <a:endParaRPr lang="en-US"/>
        </a:p>
      </dgm:t>
    </dgm:pt>
    <dgm:pt modelId="{CBBE0DAB-B6C2-4AEE-B895-E97497A4C533}">
      <dgm:prSet/>
      <dgm:spPr>
        <a:noFill/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>
              <a:latin typeface="Libre Franklin Light" pitchFamily="2" charset="0"/>
            </a:rPr>
            <a:t>Operators made decisions based on completely fabricated information</a:t>
          </a:r>
        </a:p>
      </dgm:t>
    </dgm:pt>
    <dgm:pt modelId="{547CCF2E-2D72-4A24-931C-A32EC2F5C780}" type="parTrans" cxnId="{727ACDDD-5BB4-4B8F-AB1D-4CC92F9D5A2D}">
      <dgm:prSet/>
      <dgm:spPr/>
      <dgm:t>
        <a:bodyPr/>
        <a:lstStyle/>
        <a:p>
          <a:endParaRPr lang="en-US"/>
        </a:p>
      </dgm:t>
    </dgm:pt>
    <dgm:pt modelId="{0C0E44A5-BBF6-4574-B6BB-E18433BD8459}" type="sibTrans" cxnId="{727ACDDD-5BB4-4B8F-AB1D-4CC92F9D5A2D}">
      <dgm:prSet/>
      <dgm:spPr/>
      <dgm:t>
        <a:bodyPr/>
        <a:lstStyle/>
        <a:p>
          <a:endParaRPr lang="en-US"/>
        </a:p>
      </dgm:t>
    </dgm:pt>
    <dgm:pt modelId="{3980E87E-8C38-407F-B978-9C8189C7A5C4}" type="pres">
      <dgm:prSet presAssocID="{E79E1BDF-F2F7-44A0-8E38-7DB35E33A089}" presName="diagram" presStyleCnt="0">
        <dgm:presLayoutVars>
          <dgm:dir/>
          <dgm:resizeHandles val="exact"/>
        </dgm:presLayoutVars>
      </dgm:prSet>
      <dgm:spPr/>
    </dgm:pt>
    <dgm:pt modelId="{D13F99E8-3EF2-40B5-A37C-8F955B4111B2}" type="pres">
      <dgm:prSet presAssocID="{9A2DE203-3C98-4309-A09E-6D712371A0E1}" presName="node" presStyleLbl="node1" presStyleIdx="0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FB066B17-4ABF-4CAD-875B-A787707A3979}" type="pres">
      <dgm:prSet presAssocID="{1C5B72A6-1412-42B7-ABE2-F9048736D6A0}" presName="sibTrans" presStyleCnt="0"/>
      <dgm:spPr/>
    </dgm:pt>
    <dgm:pt modelId="{B319F247-15B9-4822-B5BA-DFD1FCBC90AF}" type="pres">
      <dgm:prSet presAssocID="{E144F98B-E692-4CD7-9E90-CB13BCA2EA6E}" presName="node" presStyleLbl="node1" presStyleIdx="1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83B55C6E-8169-43EA-AA37-B0EA98DA68AB}" type="pres">
      <dgm:prSet presAssocID="{BFE6B697-DB44-4D9A-AD38-DC2CF08D100D}" presName="sibTrans" presStyleCnt="0"/>
      <dgm:spPr/>
    </dgm:pt>
    <dgm:pt modelId="{557C4FE7-40D6-47C7-B4BC-BF42741585ED}" type="pres">
      <dgm:prSet presAssocID="{7CDDD048-A0BB-4513-8011-23E28D835763}" presName="node" presStyleLbl="node1" presStyleIdx="2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3A1341EF-6262-491E-8E20-D3726A0A0EAA}" type="pres">
      <dgm:prSet presAssocID="{15B4FA5C-9747-4E01-83CF-E00F83A03806}" presName="sibTrans" presStyleCnt="0"/>
      <dgm:spPr/>
    </dgm:pt>
    <dgm:pt modelId="{BAD1CA6D-FF61-47E8-9E2D-F1756DE9AF54}" type="pres">
      <dgm:prSet presAssocID="{6EF03674-2852-4877-97D2-31130E60841C}" presName="node" presStyleLbl="node1" presStyleIdx="3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759AD13A-46DC-40E4-810C-5DCF39AC1E84}" type="pres">
      <dgm:prSet presAssocID="{5D111309-ED29-4EFA-BA18-4AAA07348C4D}" presName="sibTrans" presStyleCnt="0"/>
      <dgm:spPr/>
    </dgm:pt>
    <dgm:pt modelId="{7A6F1256-2653-4BFA-8599-5CF7DBCFCB3F}" type="pres">
      <dgm:prSet presAssocID="{CBBE0DAB-B6C2-4AEE-B895-E97497A4C533}" presName="node" presStyleLbl="node1" presStyleIdx="4" presStyleCnt="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779B020D-E440-4B6C-B1B8-8CEBEC765E5F}" type="presOf" srcId="{6EF03674-2852-4877-97D2-31130E60841C}" destId="{BAD1CA6D-FF61-47E8-9E2D-F1756DE9AF54}" srcOrd="0" destOrd="0" presId="urn:microsoft.com/office/officeart/2005/8/layout/default"/>
    <dgm:cxn modelId="{D46A9124-0DC3-4F82-8894-3A56D8A6AB3A}" srcId="{E79E1BDF-F2F7-44A0-8E38-7DB35E33A089}" destId="{E144F98B-E692-4CD7-9E90-CB13BCA2EA6E}" srcOrd="1" destOrd="0" parTransId="{ECB78DB1-ECB2-43FC-A8E5-8E2AD000C127}" sibTransId="{BFE6B697-DB44-4D9A-AD38-DC2CF08D100D}"/>
    <dgm:cxn modelId="{20B4E145-6A59-4078-AC9C-AB88093C23F3}" type="presOf" srcId="{CBBE0DAB-B6C2-4AEE-B895-E97497A4C533}" destId="{7A6F1256-2653-4BFA-8599-5CF7DBCFCB3F}" srcOrd="0" destOrd="0" presId="urn:microsoft.com/office/officeart/2005/8/layout/default"/>
    <dgm:cxn modelId="{C8BD6C72-4643-4F57-9C10-CDF5E7E0AF9E}" srcId="{E79E1BDF-F2F7-44A0-8E38-7DB35E33A089}" destId="{9A2DE203-3C98-4309-A09E-6D712371A0E1}" srcOrd="0" destOrd="0" parTransId="{DFE56602-2D78-48D9-A61D-9CD2132E8C4C}" sibTransId="{1C5B72A6-1412-42B7-ABE2-F9048736D6A0}"/>
    <dgm:cxn modelId="{DB136582-279D-422B-B861-7F1182DEEC84}" type="presOf" srcId="{9A2DE203-3C98-4309-A09E-6D712371A0E1}" destId="{D13F99E8-3EF2-40B5-A37C-8F955B4111B2}" srcOrd="0" destOrd="0" presId="urn:microsoft.com/office/officeart/2005/8/layout/default"/>
    <dgm:cxn modelId="{0ABAB187-5140-4499-AB7A-B342F073A73C}" type="presOf" srcId="{7CDDD048-A0BB-4513-8011-23E28D835763}" destId="{557C4FE7-40D6-47C7-B4BC-BF42741585ED}" srcOrd="0" destOrd="0" presId="urn:microsoft.com/office/officeart/2005/8/layout/default"/>
    <dgm:cxn modelId="{CF79D8A8-D954-4A67-91ED-DA9F498001A3}" type="presOf" srcId="{E144F98B-E692-4CD7-9E90-CB13BCA2EA6E}" destId="{B319F247-15B9-4822-B5BA-DFD1FCBC90AF}" srcOrd="0" destOrd="0" presId="urn:microsoft.com/office/officeart/2005/8/layout/default"/>
    <dgm:cxn modelId="{429AAFC7-A42D-42B7-974C-201192FEB49B}" srcId="{E79E1BDF-F2F7-44A0-8E38-7DB35E33A089}" destId="{6EF03674-2852-4877-97D2-31130E60841C}" srcOrd="3" destOrd="0" parTransId="{117A70C8-7502-48A0-A06F-2CEEA4B4FE27}" sibTransId="{5D111309-ED29-4EFA-BA18-4AAA07348C4D}"/>
    <dgm:cxn modelId="{727ACDDD-5BB4-4B8F-AB1D-4CC92F9D5A2D}" srcId="{E79E1BDF-F2F7-44A0-8E38-7DB35E33A089}" destId="{CBBE0DAB-B6C2-4AEE-B895-E97497A4C533}" srcOrd="4" destOrd="0" parTransId="{547CCF2E-2D72-4A24-931C-A32EC2F5C780}" sibTransId="{0C0E44A5-BBF6-4574-B6BB-E18433BD8459}"/>
    <dgm:cxn modelId="{3F687FF2-A669-4898-BEED-540EB14938CB}" type="presOf" srcId="{E79E1BDF-F2F7-44A0-8E38-7DB35E33A089}" destId="{3980E87E-8C38-407F-B978-9C8189C7A5C4}" srcOrd="0" destOrd="0" presId="urn:microsoft.com/office/officeart/2005/8/layout/default"/>
    <dgm:cxn modelId="{B97EFDFC-92A1-417D-8828-71082752CC32}" srcId="{E79E1BDF-F2F7-44A0-8E38-7DB35E33A089}" destId="{7CDDD048-A0BB-4513-8011-23E28D835763}" srcOrd="2" destOrd="0" parTransId="{5C44B877-5D87-4CF3-BC5A-CEBCA30AB043}" sibTransId="{15B4FA5C-9747-4E01-83CF-E00F83A03806}"/>
    <dgm:cxn modelId="{1AEC188C-EA9A-4B6F-A988-9CDBB7A49CFB}" type="presParOf" srcId="{3980E87E-8C38-407F-B978-9C8189C7A5C4}" destId="{D13F99E8-3EF2-40B5-A37C-8F955B4111B2}" srcOrd="0" destOrd="0" presId="urn:microsoft.com/office/officeart/2005/8/layout/default"/>
    <dgm:cxn modelId="{1A73BF52-FE82-4E89-B7EF-7956EC8AB77C}" type="presParOf" srcId="{3980E87E-8C38-407F-B978-9C8189C7A5C4}" destId="{FB066B17-4ABF-4CAD-875B-A787707A3979}" srcOrd="1" destOrd="0" presId="urn:microsoft.com/office/officeart/2005/8/layout/default"/>
    <dgm:cxn modelId="{24CA2E81-CDAE-4A20-8637-EB9C9D1395D2}" type="presParOf" srcId="{3980E87E-8C38-407F-B978-9C8189C7A5C4}" destId="{B319F247-15B9-4822-B5BA-DFD1FCBC90AF}" srcOrd="2" destOrd="0" presId="urn:microsoft.com/office/officeart/2005/8/layout/default"/>
    <dgm:cxn modelId="{886854B2-A706-4BEE-BECE-0C486180FFAD}" type="presParOf" srcId="{3980E87E-8C38-407F-B978-9C8189C7A5C4}" destId="{83B55C6E-8169-43EA-AA37-B0EA98DA68AB}" srcOrd="3" destOrd="0" presId="urn:microsoft.com/office/officeart/2005/8/layout/default"/>
    <dgm:cxn modelId="{9A445795-C9C6-4AEB-895C-742CE83CC276}" type="presParOf" srcId="{3980E87E-8C38-407F-B978-9C8189C7A5C4}" destId="{557C4FE7-40D6-47C7-B4BC-BF42741585ED}" srcOrd="4" destOrd="0" presId="urn:microsoft.com/office/officeart/2005/8/layout/default"/>
    <dgm:cxn modelId="{4AB919BC-8F22-46D6-B19C-26FC936F1B1D}" type="presParOf" srcId="{3980E87E-8C38-407F-B978-9C8189C7A5C4}" destId="{3A1341EF-6262-491E-8E20-D3726A0A0EAA}" srcOrd="5" destOrd="0" presId="urn:microsoft.com/office/officeart/2005/8/layout/default"/>
    <dgm:cxn modelId="{FA538B5E-B89B-4049-8EAE-7B99C910396C}" type="presParOf" srcId="{3980E87E-8C38-407F-B978-9C8189C7A5C4}" destId="{BAD1CA6D-FF61-47E8-9E2D-F1756DE9AF54}" srcOrd="6" destOrd="0" presId="urn:microsoft.com/office/officeart/2005/8/layout/default"/>
    <dgm:cxn modelId="{80AEB5EB-1ADA-440B-B849-07C82EC78AA6}" type="presParOf" srcId="{3980E87E-8C38-407F-B978-9C8189C7A5C4}" destId="{759AD13A-46DC-40E4-810C-5DCF39AC1E84}" srcOrd="7" destOrd="0" presId="urn:microsoft.com/office/officeart/2005/8/layout/default"/>
    <dgm:cxn modelId="{01DD3A97-44C3-429E-BB30-4C5E9765B917}" type="presParOf" srcId="{3980E87E-8C38-407F-B978-9C8189C7A5C4}" destId="{7A6F1256-2653-4BFA-8599-5CF7DBCFCB3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35D5DB-5455-42A8-9A1E-027FD452BEED}">
      <dsp:nvSpPr>
        <dsp:cNvPr id="0" name=""/>
        <dsp:cNvSpPr/>
      </dsp:nvSpPr>
      <dsp:spPr>
        <a:xfrm>
          <a:off x="0" y="765109"/>
          <a:ext cx="13449903" cy="647595"/>
        </a:xfrm>
        <a:prstGeom prst="roundRect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Libre Franklin Light" pitchFamily="2" charset="0"/>
            </a:rPr>
            <a:t>Attackers intercept or replace legitimate sensor communications</a:t>
          </a:r>
          <a:endParaRPr lang="en-US" sz="2700" kern="1200" dirty="0">
            <a:latin typeface="Libre Franklin Light" pitchFamily="2" charset="0"/>
          </a:endParaRPr>
        </a:p>
      </dsp:txBody>
      <dsp:txXfrm>
        <a:off x="31613" y="796722"/>
        <a:ext cx="13386677" cy="584369"/>
      </dsp:txXfrm>
    </dsp:sp>
    <dsp:sp modelId="{BF907275-D476-45F8-82C1-0B9340D638A2}">
      <dsp:nvSpPr>
        <dsp:cNvPr id="0" name=""/>
        <dsp:cNvSpPr/>
      </dsp:nvSpPr>
      <dsp:spPr>
        <a:xfrm>
          <a:off x="0" y="1490464"/>
          <a:ext cx="13449903" cy="647595"/>
        </a:xfrm>
        <a:prstGeom prst="roundRect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Libre Franklin Light" pitchFamily="2" charset="0"/>
            </a:rPr>
            <a:t>False data is injected between sensors and control systems</a:t>
          </a:r>
        </a:p>
      </dsp:txBody>
      <dsp:txXfrm>
        <a:off x="31613" y="1522077"/>
        <a:ext cx="13386677" cy="584369"/>
      </dsp:txXfrm>
    </dsp:sp>
    <dsp:sp modelId="{4BADD4BE-5ADC-4CD9-B94F-D7924BAB0C19}">
      <dsp:nvSpPr>
        <dsp:cNvPr id="0" name=""/>
        <dsp:cNvSpPr/>
      </dsp:nvSpPr>
      <dsp:spPr>
        <a:xfrm>
          <a:off x="0" y="2215819"/>
          <a:ext cx="13449903" cy="647595"/>
        </a:xfrm>
        <a:prstGeom prst="roundRect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Libre Franklin Light" pitchFamily="2" charset="0"/>
            </a:rPr>
            <a:t>Systems trust incoming data without verifying its authenticity</a:t>
          </a:r>
        </a:p>
      </dsp:txBody>
      <dsp:txXfrm>
        <a:off x="31613" y="2247432"/>
        <a:ext cx="13386677" cy="584369"/>
      </dsp:txXfrm>
    </dsp:sp>
    <dsp:sp modelId="{8AA0162E-2835-4124-94AC-1BF984C1F73C}">
      <dsp:nvSpPr>
        <dsp:cNvPr id="0" name=""/>
        <dsp:cNvSpPr/>
      </dsp:nvSpPr>
      <dsp:spPr>
        <a:xfrm>
          <a:off x="0" y="2941174"/>
          <a:ext cx="13449903" cy="647595"/>
        </a:xfrm>
        <a:prstGeom prst="roundRect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Libre Franklin Light" pitchFamily="2" charset="0"/>
            </a:rPr>
            <a:t>Automated responses trigger based on fabricated readings</a:t>
          </a:r>
        </a:p>
      </dsp:txBody>
      <dsp:txXfrm>
        <a:off x="31613" y="2972787"/>
        <a:ext cx="13386677" cy="584369"/>
      </dsp:txXfrm>
    </dsp:sp>
    <dsp:sp modelId="{6494B951-1158-46BE-B3D9-E8ECF8C35EA5}">
      <dsp:nvSpPr>
        <dsp:cNvPr id="0" name=""/>
        <dsp:cNvSpPr/>
      </dsp:nvSpPr>
      <dsp:spPr>
        <a:xfrm>
          <a:off x="0" y="3666529"/>
          <a:ext cx="13449903" cy="647595"/>
        </a:xfrm>
        <a:prstGeom prst="roundRect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Libre Franklin Light" pitchFamily="2" charset="0"/>
            </a:rPr>
            <a:t>No physical access to equipment required—attacks happen through data streams</a:t>
          </a:r>
        </a:p>
      </dsp:txBody>
      <dsp:txXfrm>
        <a:off x="31613" y="3698142"/>
        <a:ext cx="13386677" cy="5843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F99E8-3EF2-40B5-A37C-8F955B4111B2}">
      <dsp:nvSpPr>
        <dsp:cNvPr id="0" name=""/>
        <dsp:cNvSpPr/>
      </dsp:nvSpPr>
      <dsp:spPr>
        <a:xfrm>
          <a:off x="424501" y="3485"/>
          <a:ext cx="3426001" cy="2055600"/>
        </a:xfrm>
        <a:prstGeom prst="roundRect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ibre Franklin Light" pitchFamily="2" charset="0"/>
            </a:rPr>
            <a:t>Power grid sensors manipulated to hide system overloads</a:t>
          </a:r>
        </a:p>
      </dsp:txBody>
      <dsp:txXfrm>
        <a:off x="524847" y="103831"/>
        <a:ext cx="3225309" cy="1854908"/>
      </dsp:txXfrm>
    </dsp:sp>
    <dsp:sp modelId="{B319F247-15B9-4822-B5BA-DFD1FCBC90AF}">
      <dsp:nvSpPr>
        <dsp:cNvPr id="0" name=""/>
        <dsp:cNvSpPr/>
      </dsp:nvSpPr>
      <dsp:spPr>
        <a:xfrm>
          <a:off x="4193102" y="3485"/>
          <a:ext cx="3426001" cy="2055600"/>
        </a:xfrm>
        <a:prstGeom prst="roundRect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ibre Franklin Light" pitchFamily="2" charset="0"/>
            </a:rPr>
            <a:t>Water treatment readings spoofed to mask contamination</a:t>
          </a:r>
        </a:p>
      </dsp:txBody>
      <dsp:txXfrm>
        <a:off x="4293448" y="103831"/>
        <a:ext cx="3225309" cy="1854908"/>
      </dsp:txXfrm>
    </dsp:sp>
    <dsp:sp modelId="{557C4FE7-40D6-47C7-B4BC-BF42741585ED}">
      <dsp:nvSpPr>
        <dsp:cNvPr id="0" name=""/>
        <dsp:cNvSpPr/>
      </dsp:nvSpPr>
      <dsp:spPr>
        <a:xfrm>
          <a:off x="7961703" y="3485"/>
          <a:ext cx="3426001" cy="2055600"/>
        </a:xfrm>
        <a:prstGeom prst="roundRect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ibre Franklin Light" pitchFamily="2" charset="0"/>
            </a:rPr>
            <a:t>Nuclear facility centrifuges destroyed by Stuxnet malware</a:t>
          </a:r>
        </a:p>
      </dsp:txBody>
      <dsp:txXfrm>
        <a:off x="8062049" y="103831"/>
        <a:ext cx="3225309" cy="1854908"/>
      </dsp:txXfrm>
    </dsp:sp>
    <dsp:sp modelId="{BAD1CA6D-FF61-47E8-9E2D-F1756DE9AF54}">
      <dsp:nvSpPr>
        <dsp:cNvPr id="0" name=""/>
        <dsp:cNvSpPr/>
      </dsp:nvSpPr>
      <dsp:spPr>
        <a:xfrm>
          <a:off x="2308801" y="2401686"/>
          <a:ext cx="3426001" cy="2055600"/>
        </a:xfrm>
        <a:prstGeom prst="roundRect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ibre Franklin Light" pitchFamily="2" charset="0"/>
            </a:rPr>
            <a:t>Industrial control systems fed false temperature and pressure data</a:t>
          </a:r>
        </a:p>
      </dsp:txBody>
      <dsp:txXfrm>
        <a:off x="2409147" y="2502032"/>
        <a:ext cx="3225309" cy="1854908"/>
      </dsp:txXfrm>
    </dsp:sp>
    <dsp:sp modelId="{7A6F1256-2653-4BFA-8599-5CF7DBCFCB3F}">
      <dsp:nvSpPr>
        <dsp:cNvPr id="0" name=""/>
        <dsp:cNvSpPr/>
      </dsp:nvSpPr>
      <dsp:spPr>
        <a:xfrm>
          <a:off x="6077403" y="2401686"/>
          <a:ext cx="3426001" cy="2055600"/>
        </a:xfrm>
        <a:prstGeom prst="roundRect">
          <a:avLst/>
        </a:prstGeom>
        <a:noFill/>
        <a:ln w="25400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ibre Franklin Light" pitchFamily="2" charset="0"/>
            </a:rPr>
            <a:t>Operators made decisions based on completely fabricated information</a:t>
          </a:r>
        </a:p>
      </dsp:txBody>
      <dsp:txXfrm>
        <a:off x="6177749" y="2502032"/>
        <a:ext cx="3225309" cy="18549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microsoft.com/office/2007/relationships/hdphoto" Target="../media/hdphoto1.wdp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89978" y="0"/>
            <a:ext cx="4898022" cy="10287000"/>
          </a:xfrm>
          <a:custGeom>
            <a:avLst/>
            <a:gdLst/>
            <a:ahLst/>
            <a:cxnLst/>
            <a:rect l="l" t="t" r="r" b="b"/>
            <a:pathLst>
              <a:path w="4898022" h="10287000">
                <a:moveTo>
                  <a:pt x="0" y="0"/>
                </a:moveTo>
                <a:lnTo>
                  <a:pt x="4898022" y="0"/>
                </a:lnTo>
                <a:lnTo>
                  <a:pt x="48980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2686" r="-13197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AutoShape 3"/>
          <p:cNvSpPr/>
          <p:nvPr/>
        </p:nvSpPr>
        <p:spPr>
          <a:xfrm>
            <a:off x="1514296" y="7614299"/>
            <a:ext cx="4446467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1514296" y="8119124"/>
            <a:ext cx="3091390" cy="1209507"/>
          </a:xfrm>
          <a:custGeom>
            <a:avLst/>
            <a:gdLst/>
            <a:ahLst/>
            <a:cxnLst/>
            <a:rect l="l" t="t" r="r" b="b"/>
            <a:pathLst>
              <a:path w="3091390" h="1209507">
                <a:moveTo>
                  <a:pt x="0" y="0"/>
                </a:moveTo>
                <a:lnTo>
                  <a:pt x="3091391" y="0"/>
                </a:lnTo>
                <a:lnTo>
                  <a:pt x="3091391" y="1209506"/>
                </a:lnTo>
                <a:lnTo>
                  <a:pt x="0" y="1209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TextBox 5"/>
          <p:cNvSpPr txBox="1"/>
          <p:nvPr/>
        </p:nvSpPr>
        <p:spPr>
          <a:xfrm>
            <a:off x="1514296" y="1269777"/>
            <a:ext cx="10805586" cy="4954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200"/>
              </a:lnSpc>
            </a:pPr>
            <a:r>
              <a:rPr lang="en-US" sz="96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Sensor Spoofing and Data Manipulation Risks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4296" y="6492875"/>
            <a:ext cx="8058255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en-US" sz="25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How attackers could manipulate environmental or equipment data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9E7BA-7984-CB38-5A79-F62705B92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91;g3e69c54ea80_1_333">
            <a:extLst>
              <a:ext uri="{FF2B5EF4-FFF2-40B4-BE49-F238E27FC236}">
                <a16:creationId xmlns:a16="http://schemas.microsoft.com/office/drawing/2014/main" id="{9D4D282A-1440-FDF5-FC25-D70DD005C151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92;g3e69c54ea80_1_333">
            <a:extLst>
              <a:ext uri="{FF2B5EF4-FFF2-40B4-BE49-F238E27FC236}">
                <a16:creationId xmlns:a16="http://schemas.microsoft.com/office/drawing/2014/main" id="{0CFF8C45-F066-195F-1244-76CF77434BD6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93;g3e69c54ea80_1_333">
            <a:extLst>
              <a:ext uri="{FF2B5EF4-FFF2-40B4-BE49-F238E27FC236}">
                <a16:creationId xmlns:a16="http://schemas.microsoft.com/office/drawing/2014/main" id="{F5318ACD-3D06-3FE0-9736-7237D63BEBDB}"/>
              </a:ext>
            </a:extLst>
          </p:cNvPr>
          <p:cNvSpPr txBox="1"/>
          <p:nvPr/>
        </p:nvSpPr>
        <p:spPr>
          <a:xfrm>
            <a:off x="1036494" y="1924659"/>
            <a:ext cx="16215000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66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Sensor Spoofing: An Introduction</a:t>
            </a:r>
            <a:endParaRPr lang="en-US" sz="500" dirty="0"/>
          </a:p>
        </p:txBody>
      </p:sp>
      <p:sp>
        <p:nvSpPr>
          <p:cNvPr id="5" name="Google Shape;194;g3e69c54ea80_1_333">
            <a:extLst>
              <a:ext uri="{FF2B5EF4-FFF2-40B4-BE49-F238E27FC236}">
                <a16:creationId xmlns:a16="http://schemas.microsoft.com/office/drawing/2014/main" id="{4B090666-02F2-F8C4-7F64-A9CAAE8E7F7B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Sensor Spoofing and Data Manipulation Risks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6" name="Google Shape;198;g3e69c54ea80_1_333">
            <a:extLst>
              <a:ext uri="{FF2B5EF4-FFF2-40B4-BE49-F238E27FC236}">
                <a16:creationId xmlns:a16="http://schemas.microsoft.com/office/drawing/2014/main" id="{21554B4B-BB8E-B887-48F2-1F6E17B91FAB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9;g3e69c54ea80_1_333">
            <a:extLst>
              <a:ext uri="{FF2B5EF4-FFF2-40B4-BE49-F238E27FC236}">
                <a16:creationId xmlns:a16="http://schemas.microsoft.com/office/drawing/2014/main" id="{7479E099-BE77-94E0-4FB4-E7A068270024}"/>
              </a:ext>
            </a:extLst>
          </p:cNvPr>
          <p:cNvSpPr txBox="1"/>
          <p:nvPr/>
        </p:nvSpPr>
        <p:spPr>
          <a:xfrm>
            <a:off x="5770500" y="3067845"/>
            <a:ext cx="6747000" cy="6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en-US" sz="23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When Data Lies, Decisions Fail</a:t>
            </a:r>
            <a:endParaRPr sz="2300" dirty="0">
              <a:solidFill>
                <a:schemeClr val="accent1">
                  <a:lumMod val="40000"/>
                  <a:lumOff val="60000"/>
                </a:schemeClr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8EC69E-61B1-40B3-2D46-35F3C1AE2376}"/>
              </a:ext>
            </a:extLst>
          </p:cNvPr>
          <p:cNvGrpSpPr/>
          <p:nvPr/>
        </p:nvGrpSpPr>
        <p:grpSpPr>
          <a:xfrm>
            <a:off x="1495363" y="4300758"/>
            <a:ext cx="5803186" cy="1461168"/>
            <a:chOff x="1495363" y="4648200"/>
            <a:chExt cx="5803186" cy="115824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2A1BCF3-2E5D-559D-3036-9FE8A87F2322}"/>
                </a:ext>
              </a:extLst>
            </p:cNvPr>
            <p:cNvSpPr/>
            <p:nvPr/>
          </p:nvSpPr>
          <p:spPr>
            <a:xfrm>
              <a:off x="1495363" y="4648200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  <p:sp>
          <p:nvSpPr>
            <p:cNvPr id="10" name="Google Shape;197;g3e69c54ea80_1_333">
              <a:extLst>
                <a:ext uri="{FF2B5EF4-FFF2-40B4-BE49-F238E27FC236}">
                  <a16:creationId xmlns:a16="http://schemas.microsoft.com/office/drawing/2014/main" id="{D1493F97-E4DE-3892-A778-E41A0D230B30}"/>
                </a:ext>
              </a:extLst>
            </p:cNvPr>
            <p:cNvSpPr txBox="1"/>
            <p:nvPr/>
          </p:nvSpPr>
          <p:spPr>
            <a:xfrm>
              <a:off x="1525437" y="4711641"/>
              <a:ext cx="5773112" cy="10243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Sensors collect real-world data that machines and operators rely on to make critical decisions</a:t>
              </a:r>
              <a:endParaRPr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88683B-B3F5-5208-EAA2-695092BF3249}"/>
              </a:ext>
            </a:extLst>
          </p:cNvPr>
          <p:cNvGrpSpPr/>
          <p:nvPr/>
        </p:nvGrpSpPr>
        <p:grpSpPr>
          <a:xfrm>
            <a:off x="10539078" y="4300757"/>
            <a:ext cx="6468762" cy="1461167"/>
            <a:chOff x="10539078" y="4648200"/>
            <a:chExt cx="6468762" cy="1158240"/>
          </a:xfrm>
        </p:grpSpPr>
        <p:sp>
          <p:nvSpPr>
            <p:cNvPr id="12" name="Google Shape;205;g3e69c54ea80_1_333">
              <a:extLst>
                <a:ext uri="{FF2B5EF4-FFF2-40B4-BE49-F238E27FC236}">
                  <a16:creationId xmlns:a16="http://schemas.microsoft.com/office/drawing/2014/main" id="{3DA6BD14-964B-A77B-9F51-F8BBB21607D6}"/>
                </a:ext>
              </a:extLst>
            </p:cNvPr>
            <p:cNvSpPr txBox="1"/>
            <p:nvPr/>
          </p:nvSpPr>
          <p:spPr>
            <a:xfrm>
              <a:off x="10691478" y="4711641"/>
              <a:ext cx="6162709" cy="10243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When that data is falsified, systems respond to conditions that do not actually exist</a:t>
              </a:r>
              <a:endParaRPr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CCC0C32-1B9D-51D9-0C31-5C2E743926BC}"/>
                </a:ext>
              </a:extLst>
            </p:cNvPr>
            <p:cNvSpPr/>
            <p:nvPr/>
          </p:nvSpPr>
          <p:spPr>
            <a:xfrm>
              <a:off x="10539078" y="4648200"/>
              <a:ext cx="6468762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C1FF3A-77B1-CCC8-5D33-1FBECA2A44A5}"/>
              </a:ext>
            </a:extLst>
          </p:cNvPr>
          <p:cNvGrpSpPr/>
          <p:nvPr/>
        </p:nvGrpSpPr>
        <p:grpSpPr>
          <a:xfrm>
            <a:off x="1495363" y="7560747"/>
            <a:ext cx="6036056" cy="2136128"/>
            <a:chOff x="1495363" y="7208764"/>
            <a:chExt cx="5803186" cy="1365818"/>
          </a:xfrm>
        </p:grpSpPr>
        <p:sp>
          <p:nvSpPr>
            <p:cNvPr id="15" name="Google Shape;202;g3e69c54ea80_1_333">
              <a:extLst>
                <a:ext uri="{FF2B5EF4-FFF2-40B4-BE49-F238E27FC236}">
                  <a16:creationId xmlns:a16="http://schemas.microsoft.com/office/drawing/2014/main" id="{5293693A-FF31-5559-DF05-1018063C6F0B}"/>
                </a:ext>
              </a:extLst>
            </p:cNvPr>
            <p:cNvSpPr txBox="1"/>
            <p:nvPr/>
          </p:nvSpPr>
          <p:spPr>
            <a:xfrm>
              <a:off x="1607306" y="7208764"/>
              <a:ext cx="5579300" cy="13658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Attackers can manipulate temperature, pressure, flow, or location readings without touching physical equipment</a:t>
              </a:r>
              <a:endParaRPr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301D920-0EA5-89CF-4B32-9365A6B197F5}"/>
                </a:ext>
              </a:extLst>
            </p:cNvPr>
            <p:cNvSpPr/>
            <p:nvPr/>
          </p:nvSpPr>
          <p:spPr>
            <a:xfrm>
              <a:off x="1495363" y="7309811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3776F-4212-463D-2939-22FDA1B206FB}"/>
              </a:ext>
            </a:extLst>
          </p:cNvPr>
          <p:cNvGrpSpPr/>
          <p:nvPr/>
        </p:nvGrpSpPr>
        <p:grpSpPr>
          <a:xfrm>
            <a:off x="6077733" y="6134100"/>
            <a:ext cx="5803186" cy="1158240"/>
            <a:chOff x="6047253" y="5973340"/>
            <a:chExt cx="5803186" cy="1158240"/>
          </a:xfrm>
        </p:grpSpPr>
        <p:sp>
          <p:nvSpPr>
            <p:cNvPr id="18" name="Google Shape;211;g3e69c54ea80_1_333">
              <a:extLst>
                <a:ext uri="{FF2B5EF4-FFF2-40B4-BE49-F238E27FC236}">
                  <a16:creationId xmlns:a16="http://schemas.microsoft.com/office/drawing/2014/main" id="{57F2E13E-A45A-0F91-79A5-1C8F46F0E6AA}"/>
                </a:ext>
              </a:extLst>
            </p:cNvPr>
            <p:cNvSpPr txBox="1"/>
            <p:nvPr/>
          </p:nvSpPr>
          <p:spPr>
            <a:xfrm>
              <a:off x="6062290" y="6125952"/>
              <a:ext cx="5773112" cy="861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Spoofing means feeding false inputs</a:t>
              </a:r>
              <a:endParaRPr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343370F-4E7E-4797-97C4-CB27E312664A}"/>
                </a:ext>
              </a:extLst>
            </p:cNvPr>
            <p:cNvSpPr/>
            <p:nvPr/>
          </p:nvSpPr>
          <p:spPr>
            <a:xfrm>
              <a:off x="6047253" y="5973340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81C087-68CD-B6F3-A704-430D9A477E8E}"/>
              </a:ext>
            </a:extLst>
          </p:cNvPr>
          <p:cNvGrpSpPr/>
          <p:nvPr/>
        </p:nvGrpSpPr>
        <p:grpSpPr>
          <a:xfrm>
            <a:off x="10755431" y="7560746"/>
            <a:ext cx="6036056" cy="2136128"/>
            <a:chOff x="1495363" y="7208763"/>
            <a:chExt cx="5803186" cy="1365818"/>
          </a:xfrm>
        </p:grpSpPr>
        <p:sp>
          <p:nvSpPr>
            <p:cNvPr id="21" name="Google Shape;202;g3e69c54ea80_1_333">
              <a:extLst>
                <a:ext uri="{FF2B5EF4-FFF2-40B4-BE49-F238E27FC236}">
                  <a16:creationId xmlns:a16="http://schemas.microsoft.com/office/drawing/2014/main" id="{3243BDF3-B1EE-BF7E-D7E0-DEAF5C821213}"/>
                </a:ext>
              </a:extLst>
            </p:cNvPr>
            <p:cNvSpPr txBox="1"/>
            <p:nvPr/>
          </p:nvSpPr>
          <p:spPr>
            <a:xfrm>
              <a:off x="1607306" y="7208763"/>
              <a:ext cx="5579300" cy="13658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The consequences range from minor inefficiencies to catastrophic equipment failure or safety incidents</a:t>
              </a:r>
              <a:endParaRPr lang="en-US" sz="2800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EB6A9FE-394A-6E9C-C021-576AB6B67BBF}"/>
                </a:ext>
              </a:extLst>
            </p:cNvPr>
            <p:cNvSpPr/>
            <p:nvPr/>
          </p:nvSpPr>
          <p:spPr>
            <a:xfrm>
              <a:off x="1495363" y="7309811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</p:spTree>
    <p:extLst>
      <p:ext uri="{BB962C8B-B14F-4D97-AF65-F5344CB8AC3E}">
        <p14:creationId xmlns:p14="http://schemas.microsoft.com/office/powerpoint/2010/main" val="4011746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>
            <a:extLst>
              <a:ext uri="{FF2B5EF4-FFF2-40B4-BE49-F238E27FC236}">
                <a16:creationId xmlns:a16="http://schemas.microsoft.com/office/drawing/2014/main" id="{E7B8C36A-5A7A-BA07-7F8C-DEF8E47B5445}"/>
              </a:ext>
            </a:extLst>
          </p:cNvPr>
          <p:cNvSpPr txBox="1"/>
          <p:nvPr/>
        </p:nvSpPr>
        <p:spPr>
          <a:xfrm>
            <a:off x="3237897" y="2301875"/>
            <a:ext cx="11812206" cy="1114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54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How Sensor Spoofing Works</a:t>
            </a:r>
            <a:endParaRPr lang="en-US" sz="300" dirty="0"/>
          </a:p>
        </p:txBody>
      </p:sp>
      <p:sp>
        <p:nvSpPr>
          <p:cNvPr id="14" name="Google Shape;221;g3e69c54ea80_1_378">
            <a:extLst>
              <a:ext uri="{FF2B5EF4-FFF2-40B4-BE49-F238E27FC236}">
                <a16:creationId xmlns:a16="http://schemas.microsoft.com/office/drawing/2014/main" id="{873B9B18-6CA2-F625-BB77-228CC05CA381}"/>
              </a:ext>
            </a:extLst>
          </p:cNvPr>
          <p:cNvSpPr txBox="1"/>
          <p:nvPr/>
        </p:nvSpPr>
        <p:spPr>
          <a:xfrm>
            <a:off x="5770500" y="3530717"/>
            <a:ext cx="67470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The mechanics of deception</a:t>
            </a:r>
            <a:endParaRPr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16" name="TextBox 8">
            <a:extLst>
              <a:ext uri="{FF2B5EF4-FFF2-40B4-BE49-F238E27FC236}">
                <a16:creationId xmlns:a16="http://schemas.microsoft.com/office/drawing/2014/main" id="{BCFE6800-81D0-85DD-B224-BCA415AAD7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3802882"/>
              </p:ext>
            </p:extLst>
          </p:nvPr>
        </p:nvGraphicFramePr>
        <p:xfrm>
          <a:off x="2419049" y="4490147"/>
          <a:ext cx="13449903" cy="507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4" name="Google Shape;162;g3e69c54ea80_1_265">
            <a:extLst>
              <a:ext uri="{FF2B5EF4-FFF2-40B4-BE49-F238E27FC236}">
                <a16:creationId xmlns:a16="http://schemas.microsoft.com/office/drawing/2014/main" id="{B48601B5-7ED5-79ED-AD46-A7505AC48DB2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163;g3e69c54ea80_1_265">
            <a:extLst>
              <a:ext uri="{FF2B5EF4-FFF2-40B4-BE49-F238E27FC236}">
                <a16:creationId xmlns:a16="http://schemas.microsoft.com/office/drawing/2014/main" id="{72E0E8FC-9DDE-4954-A546-99BD80AE9911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65;g3e69c54ea80_1_265">
            <a:extLst>
              <a:ext uri="{FF2B5EF4-FFF2-40B4-BE49-F238E27FC236}">
                <a16:creationId xmlns:a16="http://schemas.microsoft.com/office/drawing/2014/main" id="{373AA98A-C482-6BA6-5055-EEAFE5ED6053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Sensor Spoofing and Data Manipulation Risks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7" name="Google Shape;166;g3e69c54ea80_1_265">
            <a:extLst>
              <a:ext uri="{FF2B5EF4-FFF2-40B4-BE49-F238E27FC236}">
                <a16:creationId xmlns:a16="http://schemas.microsoft.com/office/drawing/2014/main" id="{05019EBB-6C77-61F3-49BD-9BA6F15F94EF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72ACE-C57D-7E3E-9A5F-E8C12F60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306324-921F-EF77-054C-132110DC6C99}"/>
              </a:ext>
            </a:extLst>
          </p:cNvPr>
          <p:cNvSpPr/>
          <p:nvPr/>
        </p:nvSpPr>
        <p:spPr>
          <a:xfrm>
            <a:off x="0" y="0"/>
            <a:ext cx="4876800" cy="10287000"/>
          </a:xfrm>
          <a:custGeom>
            <a:avLst/>
            <a:gdLst/>
            <a:ahLst/>
            <a:cxnLst/>
            <a:rect l="l" t="t" r="r" b="b"/>
            <a:pathLst>
              <a:path w="5740380" h="10287000">
                <a:moveTo>
                  <a:pt x="0" y="0"/>
                </a:moveTo>
                <a:lnTo>
                  <a:pt x="5740380" y="0"/>
                </a:lnTo>
                <a:lnTo>
                  <a:pt x="5740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5312" t="225" r="-120508" b="-225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854FD4EE-C8F6-5F89-EEF9-1FF84A88ADCA}"/>
              </a:ext>
            </a:extLst>
          </p:cNvPr>
          <p:cNvSpPr/>
          <p:nvPr/>
        </p:nvSpPr>
        <p:spPr>
          <a:xfrm>
            <a:off x="5551657" y="1028700"/>
            <a:ext cx="11707643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14B91DA0-DC74-1CC1-4F34-CDC0C82B0859}"/>
              </a:ext>
            </a:extLst>
          </p:cNvPr>
          <p:cNvSpPr/>
          <p:nvPr/>
        </p:nvSpPr>
        <p:spPr>
          <a:xfrm>
            <a:off x="5551657" y="2013492"/>
            <a:ext cx="11707643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8BF6F65-7A17-208B-9104-D74D9D609695}"/>
              </a:ext>
            </a:extLst>
          </p:cNvPr>
          <p:cNvSpPr txBox="1"/>
          <p:nvPr/>
        </p:nvSpPr>
        <p:spPr>
          <a:xfrm>
            <a:off x="5447094" y="2301875"/>
            <a:ext cx="11812206" cy="1114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54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Critical Infrastructure Attacks</a:t>
            </a:r>
            <a:endParaRPr lang="en-US" sz="300" dirty="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A7C2EC29-C284-63B5-F198-D01B05770288}"/>
              </a:ext>
            </a:extLst>
          </p:cNvPr>
          <p:cNvSpPr/>
          <p:nvPr/>
        </p:nvSpPr>
        <p:spPr>
          <a:xfrm>
            <a:off x="5551657" y="1056817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Google Shape;221;g3e69c54ea80_1_378">
            <a:extLst>
              <a:ext uri="{FF2B5EF4-FFF2-40B4-BE49-F238E27FC236}">
                <a16:creationId xmlns:a16="http://schemas.microsoft.com/office/drawing/2014/main" id="{54615BB2-2EDD-67A0-5EB8-5EF9AB723266}"/>
              </a:ext>
            </a:extLst>
          </p:cNvPr>
          <p:cNvSpPr txBox="1"/>
          <p:nvPr/>
        </p:nvSpPr>
        <p:spPr>
          <a:xfrm>
            <a:off x="5551656" y="3530717"/>
            <a:ext cx="8392943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When spoofing targets essential services</a:t>
            </a:r>
            <a:endParaRPr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Google Shape;194;g3e69c54ea80_1_333">
            <a:extLst>
              <a:ext uri="{FF2B5EF4-FFF2-40B4-BE49-F238E27FC236}">
                <a16:creationId xmlns:a16="http://schemas.microsoft.com/office/drawing/2014/main" id="{7C8C4AC4-1CA1-A1B7-2789-76A8D160625F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Sensor Spoofing and Data Manipulation Risks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graphicFrame>
        <p:nvGraphicFramePr>
          <p:cNvPr id="16" name="TextBox 8">
            <a:extLst>
              <a:ext uri="{FF2B5EF4-FFF2-40B4-BE49-F238E27FC236}">
                <a16:creationId xmlns:a16="http://schemas.microsoft.com/office/drawing/2014/main" id="{F3F8E1B9-9C99-3811-5A45-2695B038B8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7169803"/>
              </p:ext>
            </p:extLst>
          </p:nvPr>
        </p:nvGraphicFramePr>
        <p:xfrm>
          <a:off x="5499375" y="4782495"/>
          <a:ext cx="11812206" cy="446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143061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72EF0-E576-8B0B-FBE3-0011C73B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FD871A-BFD4-3EC2-F9FF-6C052D10A985}"/>
              </a:ext>
            </a:extLst>
          </p:cNvPr>
          <p:cNvSpPr/>
          <p:nvPr/>
        </p:nvSpPr>
        <p:spPr>
          <a:xfrm>
            <a:off x="13403826" y="0"/>
            <a:ext cx="4876800" cy="10287000"/>
          </a:xfrm>
          <a:custGeom>
            <a:avLst/>
            <a:gdLst/>
            <a:ahLst/>
            <a:cxnLst/>
            <a:rect l="l" t="t" r="r" b="b"/>
            <a:pathLst>
              <a:path w="5740380" h="10287000">
                <a:moveTo>
                  <a:pt x="0" y="0"/>
                </a:moveTo>
                <a:lnTo>
                  <a:pt x="5740380" y="0"/>
                </a:lnTo>
                <a:lnTo>
                  <a:pt x="5740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6862" r="-188138"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17C936E2-2BB9-51EC-099B-0D37DB7896DF}"/>
              </a:ext>
            </a:extLst>
          </p:cNvPr>
          <p:cNvSpPr txBox="1"/>
          <p:nvPr/>
        </p:nvSpPr>
        <p:spPr>
          <a:xfrm>
            <a:off x="990600" y="2309391"/>
            <a:ext cx="11812206" cy="990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48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Transportation and Navigation Spoofing</a:t>
            </a:r>
            <a:endParaRPr lang="en-US" sz="200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31B16AED-10C5-D8C0-3AFA-B63583975114}"/>
              </a:ext>
            </a:extLst>
          </p:cNvPr>
          <p:cNvSpPr txBox="1"/>
          <p:nvPr/>
        </p:nvSpPr>
        <p:spPr>
          <a:xfrm>
            <a:off x="1042881" y="4790011"/>
            <a:ext cx="11812206" cy="446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GPS spoofing redirected military drones and commercial ships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Tesla autopilot confused by simple stickers on road markings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Aircraft navigation systems tricked with false position data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Shipping vessels pushed off course in busy waterways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Low-cost equipment can disrupt high-value navigation systems</a:t>
            </a:r>
          </a:p>
        </p:txBody>
      </p:sp>
      <p:sp>
        <p:nvSpPr>
          <p:cNvPr id="14" name="Google Shape;221;g3e69c54ea80_1_378">
            <a:extLst>
              <a:ext uri="{FF2B5EF4-FFF2-40B4-BE49-F238E27FC236}">
                <a16:creationId xmlns:a16="http://schemas.microsoft.com/office/drawing/2014/main" id="{A568ADBE-3AAA-A810-D547-6C1ED8FE4958}"/>
              </a:ext>
            </a:extLst>
          </p:cNvPr>
          <p:cNvSpPr txBox="1"/>
          <p:nvPr/>
        </p:nvSpPr>
        <p:spPr>
          <a:xfrm>
            <a:off x="1095163" y="3538233"/>
            <a:ext cx="67470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Misdirecting vehicles and vessels</a:t>
            </a:r>
            <a:endParaRPr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3" name="Google Shape;191;g3e69c54ea80_1_333">
            <a:extLst>
              <a:ext uri="{FF2B5EF4-FFF2-40B4-BE49-F238E27FC236}">
                <a16:creationId xmlns:a16="http://schemas.microsoft.com/office/drawing/2014/main" id="{504E26D9-6EF3-BCE3-3858-B8FB507215D5}"/>
              </a:ext>
            </a:extLst>
          </p:cNvPr>
          <p:cNvCxnSpPr>
            <a:cxnSpLocks/>
          </p:cNvCxnSpPr>
          <p:nvPr/>
        </p:nvCxnSpPr>
        <p:spPr>
          <a:xfrm>
            <a:off x="1028700" y="1028700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192;g3e69c54ea80_1_333">
            <a:extLst>
              <a:ext uri="{FF2B5EF4-FFF2-40B4-BE49-F238E27FC236}">
                <a16:creationId xmlns:a16="http://schemas.microsoft.com/office/drawing/2014/main" id="{233E5449-A1AA-72D1-3FA0-5819FE62ADCE}"/>
              </a:ext>
            </a:extLst>
          </p:cNvPr>
          <p:cNvCxnSpPr>
            <a:cxnSpLocks/>
          </p:cNvCxnSpPr>
          <p:nvPr/>
        </p:nvCxnSpPr>
        <p:spPr>
          <a:xfrm>
            <a:off x="1028700" y="2013492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94;g3e69c54ea80_1_333">
            <a:extLst>
              <a:ext uri="{FF2B5EF4-FFF2-40B4-BE49-F238E27FC236}">
                <a16:creationId xmlns:a16="http://schemas.microsoft.com/office/drawing/2014/main" id="{53DE845C-19E1-C9A8-05E7-692DAA90BD81}"/>
              </a:ext>
            </a:extLst>
          </p:cNvPr>
          <p:cNvSpPr txBox="1"/>
          <p:nvPr/>
        </p:nvSpPr>
        <p:spPr>
          <a:xfrm>
            <a:off x="4763706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Sensor Spoofing and Data Manipulation Risks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6" name="Google Shape;198;g3e69c54ea80_1_333">
            <a:extLst>
              <a:ext uri="{FF2B5EF4-FFF2-40B4-BE49-F238E27FC236}">
                <a16:creationId xmlns:a16="http://schemas.microsoft.com/office/drawing/2014/main" id="{291AA969-A5F4-CF6B-FC5A-18D090F22375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4106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159FA-E1F2-DE7A-002F-8518785E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32;g3e69c54ea80_1_191">
            <a:extLst>
              <a:ext uri="{FF2B5EF4-FFF2-40B4-BE49-F238E27FC236}">
                <a16:creationId xmlns:a16="http://schemas.microsoft.com/office/drawing/2014/main" id="{A98ED27D-5F8F-9706-BE3C-8597442AE39D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33;g3e69c54ea80_1_191">
            <a:extLst>
              <a:ext uri="{FF2B5EF4-FFF2-40B4-BE49-F238E27FC236}">
                <a16:creationId xmlns:a16="http://schemas.microsoft.com/office/drawing/2014/main" id="{6A7C2AA9-4A6C-63CC-38F8-CDD65D9FC6B3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34;g3e69c54ea80_1_191">
            <a:extLst>
              <a:ext uri="{FF2B5EF4-FFF2-40B4-BE49-F238E27FC236}">
                <a16:creationId xmlns:a16="http://schemas.microsoft.com/office/drawing/2014/main" id="{41ACF8A4-E771-B0F5-E75F-29C3757081D9}"/>
              </a:ext>
            </a:extLst>
          </p:cNvPr>
          <p:cNvSpPr txBox="1"/>
          <p:nvPr/>
        </p:nvSpPr>
        <p:spPr>
          <a:xfrm>
            <a:off x="1044444" y="1947398"/>
            <a:ext cx="16215000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63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Healthcare Device Manipulation</a:t>
            </a:r>
            <a:endParaRPr sz="500" dirty="0"/>
          </a:p>
        </p:txBody>
      </p:sp>
      <p:sp>
        <p:nvSpPr>
          <p:cNvPr id="5" name="Google Shape;135;g3e69c54ea80_1_191">
            <a:extLst>
              <a:ext uri="{FF2B5EF4-FFF2-40B4-BE49-F238E27FC236}">
                <a16:creationId xmlns:a16="http://schemas.microsoft.com/office/drawing/2014/main" id="{990C936D-D7DE-A20A-11BD-24363416C2DD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Sensor Spoofing and Data Manipulation Risks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6" name="Google Shape;136;g3e69c54ea80_1_191">
            <a:extLst>
              <a:ext uri="{FF2B5EF4-FFF2-40B4-BE49-F238E27FC236}">
                <a16:creationId xmlns:a16="http://schemas.microsoft.com/office/drawing/2014/main" id="{3937A57B-03B1-8F18-6110-F247C9AA49ED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37;g3e69c54ea80_1_191">
            <a:extLst>
              <a:ext uri="{FF2B5EF4-FFF2-40B4-BE49-F238E27FC236}">
                <a16:creationId xmlns:a16="http://schemas.microsoft.com/office/drawing/2014/main" id="{1A00025C-267D-5DF3-582C-8B2A3BEE1F59}"/>
              </a:ext>
            </a:extLst>
          </p:cNvPr>
          <p:cNvSpPr txBox="1"/>
          <p:nvPr/>
        </p:nvSpPr>
        <p:spPr>
          <a:xfrm>
            <a:off x="5770500" y="3285131"/>
            <a:ext cx="6747000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Life-critical systems under attack</a:t>
            </a:r>
            <a:endParaRPr dirty="0"/>
          </a:p>
        </p:txBody>
      </p:sp>
      <p:cxnSp>
        <p:nvCxnSpPr>
          <p:cNvPr id="8" name="Google Shape;139;g3e69c54ea80_1_191">
            <a:extLst>
              <a:ext uri="{FF2B5EF4-FFF2-40B4-BE49-F238E27FC236}">
                <a16:creationId xmlns:a16="http://schemas.microsoft.com/office/drawing/2014/main" id="{0AB5345B-80CC-8CCF-2166-A66A60E84BE7}"/>
              </a:ext>
            </a:extLst>
          </p:cNvPr>
          <p:cNvCxnSpPr>
            <a:cxnSpLocks/>
          </p:cNvCxnSpPr>
          <p:nvPr/>
        </p:nvCxnSpPr>
        <p:spPr>
          <a:xfrm>
            <a:off x="6312657" y="5185419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140;g3e69c54ea80_1_191">
            <a:extLst>
              <a:ext uri="{FF2B5EF4-FFF2-40B4-BE49-F238E27FC236}">
                <a16:creationId xmlns:a16="http://schemas.microsoft.com/office/drawing/2014/main" id="{63117C74-A9D7-69CA-E88B-21630F66D782}"/>
              </a:ext>
            </a:extLst>
          </p:cNvPr>
          <p:cNvCxnSpPr>
            <a:cxnSpLocks/>
          </p:cNvCxnSpPr>
          <p:nvPr/>
        </p:nvCxnSpPr>
        <p:spPr>
          <a:xfrm>
            <a:off x="6312657" y="6316268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141;g3e69c54ea80_1_191">
            <a:extLst>
              <a:ext uri="{FF2B5EF4-FFF2-40B4-BE49-F238E27FC236}">
                <a16:creationId xmlns:a16="http://schemas.microsoft.com/office/drawing/2014/main" id="{3579B102-6079-DE00-5E9D-4FC0AFC24F6A}"/>
              </a:ext>
            </a:extLst>
          </p:cNvPr>
          <p:cNvCxnSpPr>
            <a:cxnSpLocks/>
          </p:cNvCxnSpPr>
          <p:nvPr/>
        </p:nvCxnSpPr>
        <p:spPr>
          <a:xfrm>
            <a:off x="6312657" y="7447117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42;g3e69c54ea80_1_191">
            <a:extLst>
              <a:ext uri="{FF2B5EF4-FFF2-40B4-BE49-F238E27FC236}">
                <a16:creationId xmlns:a16="http://schemas.microsoft.com/office/drawing/2014/main" id="{033AFBC3-A497-49A5-EE52-1BA487F952D1}"/>
              </a:ext>
            </a:extLst>
          </p:cNvPr>
          <p:cNvCxnSpPr>
            <a:cxnSpLocks/>
          </p:cNvCxnSpPr>
          <p:nvPr/>
        </p:nvCxnSpPr>
        <p:spPr>
          <a:xfrm>
            <a:off x="6312657" y="8577966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45;g3e69c54ea80_1_191">
            <a:extLst>
              <a:ext uri="{FF2B5EF4-FFF2-40B4-BE49-F238E27FC236}">
                <a16:creationId xmlns:a16="http://schemas.microsoft.com/office/drawing/2014/main" id="{023B15C4-6C97-C797-F912-5C6DCE2D571F}"/>
              </a:ext>
            </a:extLst>
          </p:cNvPr>
          <p:cNvSpPr txBox="1"/>
          <p:nvPr/>
        </p:nvSpPr>
        <p:spPr>
          <a:xfrm>
            <a:off x="3456164" y="4551166"/>
            <a:ext cx="11333340" cy="430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Insulin pumps hacked remotely to deliver wrong dosages</a:t>
            </a:r>
            <a:endParaRPr dirty="0"/>
          </a:p>
        </p:txBody>
      </p:sp>
      <p:sp>
        <p:nvSpPr>
          <p:cNvPr id="13" name="Google Shape;148;g3e69c54ea80_1_191">
            <a:extLst>
              <a:ext uri="{FF2B5EF4-FFF2-40B4-BE49-F238E27FC236}">
                <a16:creationId xmlns:a16="http://schemas.microsoft.com/office/drawing/2014/main" id="{27FD0017-AAB7-5229-E533-B5A230B855C2}"/>
              </a:ext>
            </a:extLst>
          </p:cNvPr>
          <p:cNvSpPr txBox="1"/>
          <p:nvPr/>
        </p:nvSpPr>
        <p:spPr>
          <a:xfrm>
            <a:off x="3517149" y="5631417"/>
            <a:ext cx="11211370" cy="430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Medical monitors spoofed to hide cardiac events in lab tests</a:t>
            </a:r>
            <a:endParaRPr dirty="0"/>
          </a:p>
        </p:txBody>
      </p:sp>
      <p:sp>
        <p:nvSpPr>
          <p:cNvPr id="14" name="Google Shape;151;g3e69c54ea80_1_191">
            <a:extLst>
              <a:ext uri="{FF2B5EF4-FFF2-40B4-BE49-F238E27FC236}">
                <a16:creationId xmlns:a16="http://schemas.microsoft.com/office/drawing/2014/main" id="{751EB2AC-085F-EF47-5338-4CDA01F80490}"/>
              </a:ext>
            </a:extLst>
          </p:cNvPr>
          <p:cNvSpPr txBox="1"/>
          <p:nvPr/>
        </p:nvSpPr>
        <p:spPr>
          <a:xfrm>
            <a:off x="3456164" y="6711668"/>
            <a:ext cx="11333340" cy="430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Patient vital signs falsified to mask deteriorating conditions</a:t>
            </a:r>
            <a:endParaRPr dirty="0"/>
          </a:p>
        </p:txBody>
      </p:sp>
      <p:sp>
        <p:nvSpPr>
          <p:cNvPr id="15" name="Google Shape;154;g3e69c54ea80_1_191">
            <a:extLst>
              <a:ext uri="{FF2B5EF4-FFF2-40B4-BE49-F238E27FC236}">
                <a16:creationId xmlns:a16="http://schemas.microsoft.com/office/drawing/2014/main" id="{F8D63E8B-0885-EE30-E41F-050EAFF86FC6}"/>
              </a:ext>
            </a:extLst>
          </p:cNvPr>
          <p:cNvSpPr txBox="1"/>
          <p:nvPr/>
        </p:nvSpPr>
        <p:spPr>
          <a:xfrm>
            <a:off x="3456164" y="7791919"/>
            <a:ext cx="11333340" cy="559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30010"/>
              </a:lnSpc>
            </a:pPr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Drug delivery systems manipulated to alter medication timing</a:t>
            </a:r>
            <a:endParaRPr dirty="0"/>
          </a:p>
        </p:txBody>
      </p:sp>
      <p:sp>
        <p:nvSpPr>
          <p:cNvPr id="16" name="Google Shape;157;g3e69c54ea80_1_191">
            <a:extLst>
              <a:ext uri="{FF2B5EF4-FFF2-40B4-BE49-F238E27FC236}">
                <a16:creationId xmlns:a16="http://schemas.microsoft.com/office/drawing/2014/main" id="{7A456231-875E-46FE-04DC-A0D720EEDF18}"/>
              </a:ext>
            </a:extLst>
          </p:cNvPr>
          <p:cNvSpPr txBox="1"/>
          <p:nvPr/>
        </p:nvSpPr>
        <p:spPr>
          <a:xfrm>
            <a:off x="3338989" y="9001371"/>
            <a:ext cx="11567690" cy="559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30010"/>
              </a:lnSpc>
            </a:pPr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Wireless medical devices particularly vulnerable to interference</a:t>
            </a:r>
            <a:endParaRPr dirty="0"/>
          </a:p>
        </p:txBody>
      </p:sp>
      <p:cxnSp>
        <p:nvCxnSpPr>
          <p:cNvPr id="17" name="Google Shape;142;g3e69c54ea80_1_191">
            <a:extLst>
              <a:ext uri="{FF2B5EF4-FFF2-40B4-BE49-F238E27FC236}">
                <a16:creationId xmlns:a16="http://schemas.microsoft.com/office/drawing/2014/main" id="{CA6898B1-1C0B-8ED0-DE67-3342DC650689}"/>
              </a:ext>
            </a:extLst>
          </p:cNvPr>
          <p:cNvCxnSpPr>
            <a:cxnSpLocks/>
          </p:cNvCxnSpPr>
          <p:nvPr/>
        </p:nvCxnSpPr>
        <p:spPr>
          <a:xfrm>
            <a:off x="6312657" y="9738312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49340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3B6ED-F13F-7E1B-EDBA-D4F4F96C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1AAF7253-9CC2-CF8B-6709-BCD0D5FAF955}"/>
              </a:ext>
            </a:extLst>
          </p:cNvPr>
          <p:cNvSpPr txBox="1"/>
          <p:nvPr/>
        </p:nvSpPr>
        <p:spPr>
          <a:xfrm>
            <a:off x="960624" y="7249352"/>
            <a:ext cx="3242299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Equipment tracking systems given false location information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E936E-127C-E5AE-9B02-B9E9A1277383}"/>
              </a:ext>
            </a:extLst>
          </p:cNvPr>
          <p:cNvSpPr txBox="1"/>
          <p:nvPr/>
        </p:nvSpPr>
        <p:spPr>
          <a:xfrm>
            <a:off x="5108229" y="7268402"/>
            <a:ext cx="325804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Resource extraction operations misled about environmental conditions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F7E3B714-3AEE-AA31-7DDD-242C4CAD2AFD}"/>
              </a:ext>
            </a:extLst>
          </p:cNvPr>
          <p:cNvSpPr txBox="1"/>
          <p:nvPr/>
        </p:nvSpPr>
        <p:spPr>
          <a:xfrm>
            <a:off x="914400" y="5124450"/>
            <a:ext cx="3242299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Weather monitoring systems fed false climate data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2134A834-ADDF-C397-C662-763E6B75B62C}"/>
              </a:ext>
            </a:extLst>
          </p:cNvPr>
          <p:cNvSpPr txBox="1"/>
          <p:nvPr/>
        </p:nvSpPr>
        <p:spPr>
          <a:xfrm>
            <a:off x="5062005" y="5143500"/>
            <a:ext cx="325804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Soil moisture sensors manipulated to trigger incorrect irrigation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9D45F7B7-A9BA-9004-BBC5-C1CEF1F2CEDA}"/>
              </a:ext>
            </a:extLst>
          </p:cNvPr>
          <p:cNvSpPr txBox="1"/>
          <p:nvPr/>
        </p:nvSpPr>
        <p:spPr>
          <a:xfrm>
            <a:off x="9348257" y="5124450"/>
            <a:ext cx="325804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  <a:spcBef>
                <a:spcPct val="0"/>
              </a:spcBef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Air quality monitors spoofed to hide pollution levels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82EB964D-FF6D-FA77-6D86-31E5231CC062}"/>
              </a:ext>
            </a:extLst>
          </p:cNvPr>
          <p:cNvSpPr txBox="1"/>
          <p:nvPr/>
        </p:nvSpPr>
        <p:spPr>
          <a:xfrm>
            <a:off x="990600" y="2309391"/>
            <a:ext cx="11812206" cy="990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48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Environmental and Agricultural Threats</a:t>
            </a:r>
            <a:endParaRPr lang="en-US" sz="200" dirty="0"/>
          </a:p>
        </p:txBody>
      </p:sp>
      <p:sp>
        <p:nvSpPr>
          <p:cNvPr id="8" name="Google Shape;221;g3e69c54ea80_1_378">
            <a:extLst>
              <a:ext uri="{FF2B5EF4-FFF2-40B4-BE49-F238E27FC236}">
                <a16:creationId xmlns:a16="http://schemas.microsoft.com/office/drawing/2014/main" id="{EA7EFE2F-0489-3F7D-A912-FFC3537CBA6F}"/>
              </a:ext>
            </a:extLst>
          </p:cNvPr>
          <p:cNvSpPr txBox="1"/>
          <p:nvPr/>
        </p:nvSpPr>
        <p:spPr>
          <a:xfrm>
            <a:off x="1095163" y="3538233"/>
            <a:ext cx="67470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Spoofing in outdoor operations</a:t>
            </a:r>
            <a:endParaRPr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" name="Google Shape;191;g3e69c54ea80_1_333">
            <a:extLst>
              <a:ext uri="{FF2B5EF4-FFF2-40B4-BE49-F238E27FC236}">
                <a16:creationId xmlns:a16="http://schemas.microsoft.com/office/drawing/2014/main" id="{6A88979A-944F-ACB8-BA3E-CFBF001905E5}"/>
              </a:ext>
            </a:extLst>
          </p:cNvPr>
          <p:cNvCxnSpPr>
            <a:cxnSpLocks/>
          </p:cNvCxnSpPr>
          <p:nvPr/>
        </p:nvCxnSpPr>
        <p:spPr>
          <a:xfrm>
            <a:off x="1028700" y="1028700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192;g3e69c54ea80_1_333">
            <a:extLst>
              <a:ext uri="{FF2B5EF4-FFF2-40B4-BE49-F238E27FC236}">
                <a16:creationId xmlns:a16="http://schemas.microsoft.com/office/drawing/2014/main" id="{D4C5CCD9-F4D2-3251-14E5-2A418928C594}"/>
              </a:ext>
            </a:extLst>
          </p:cNvPr>
          <p:cNvCxnSpPr>
            <a:cxnSpLocks/>
          </p:cNvCxnSpPr>
          <p:nvPr/>
        </p:nvCxnSpPr>
        <p:spPr>
          <a:xfrm>
            <a:off x="1028700" y="2013492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194;g3e69c54ea80_1_333">
            <a:extLst>
              <a:ext uri="{FF2B5EF4-FFF2-40B4-BE49-F238E27FC236}">
                <a16:creationId xmlns:a16="http://schemas.microsoft.com/office/drawing/2014/main" id="{3AB7C682-CA46-425F-6C75-7F0389FC7A8E}"/>
              </a:ext>
            </a:extLst>
          </p:cNvPr>
          <p:cNvSpPr txBox="1"/>
          <p:nvPr/>
        </p:nvSpPr>
        <p:spPr>
          <a:xfrm>
            <a:off x="4763706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Sensor Spoofing and Data Manipulation Risks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10" name="Google Shape;198;g3e69c54ea80_1_333">
            <a:extLst>
              <a:ext uri="{FF2B5EF4-FFF2-40B4-BE49-F238E27FC236}">
                <a16:creationId xmlns:a16="http://schemas.microsoft.com/office/drawing/2014/main" id="{00E33BA6-7C18-AB9A-97B3-7274153E4223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47C5F5B-962D-0CBF-C0A8-B887A48D70BF}"/>
              </a:ext>
            </a:extLst>
          </p:cNvPr>
          <p:cNvSpPr/>
          <p:nvPr/>
        </p:nvSpPr>
        <p:spPr>
          <a:xfrm>
            <a:off x="13403826" y="0"/>
            <a:ext cx="4876800" cy="10287000"/>
          </a:xfrm>
          <a:custGeom>
            <a:avLst/>
            <a:gdLst/>
            <a:ahLst/>
            <a:cxnLst/>
            <a:rect l="l" t="t" r="r" b="b"/>
            <a:pathLst>
              <a:path w="5740380" h="10287000">
                <a:moveTo>
                  <a:pt x="0" y="0"/>
                </a:moveTo>
                <a:lnTo>
                  <a:pt x="5740380" y="0"/>
                </a:lnTo>
                <a:lnTo>
                  <a:pt x="5740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6353" t="-185" r="-200369" b="185"/>
            </a:stretch>
          </a:blipFill>
        </p:spPr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029103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80C92-F7C7-D73F-4FB2-E673A40E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>
            <a:extLst>
              <a:ext uri="{FF2B5EF4-FFF2-40B4-BE49-F238E27FC236}">
                <a16:creationId xmlns:a16="http://schemas.microsoft.com/office/drawing/2014/main" id="{B753F96B-1366-904D-95DD-4B858DCDC21E}"/>
              </a:ext>
            </a:extLst>
          </p:cNvPr>
          <p:cNvSpPr txBox="1"/>
          <p:nvPr/>
        </p:nvSpPr>
        <p:spPr>
          <a:xfrm>
            <a:off x="1028700" y="2783527"/>
            <a:ext cx="6749849" cy="403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800"/>
              </a:lnSpc>
            </a:pPr>
            <a:r>
              <a:rPr lang="en-US" sz="72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Consequences of Successful Attacks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2A0CF9EF-CA13-5AE1-8019-9FDF9A1AA4A3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7C77B22B-81E9-D882-C7DC-A400765A4E86}"/>
              </a:ext>
            </a:extLst>
          </p:cNvPr>
          <p:cNvSpPr/>
          <p:nvPr/>
        </p:nvSpPr>
        <p:spPr>
          <a:xfrm>
            <a:off x="1028700" y="2013492"/>
            <a:ext cx="16230600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4DF471F4-8991-07CD-481D-7C91C4824236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016F49-4EA6-E83C-1A57-0D5D57BEDF6D}"/>
              </a:ext>
            </a:extLst>
          </p:cNvPr>
          <p:cNvSpPr txBox="1"/>
          <p:nvPr/>
        </p:nvSpPr>
        <p:spPr>
          <a:xfrm>
            <a:off x="9144000" y="2783527"/>
            <a:ext cx="8115300" cy="5060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Equipment damage from operating outside safe parameters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Safety incidents when protective systems are bypassed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Financial losses from poor operational decisions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Environmental harm from undetected contamination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Loss of public trust when critical systems fail</a:t>
            </a: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41D245B8-AF97-110E-C3BD-FEADBB19E482}"/>
              </a:ext>
            </a:extLst>
          </p:cNvPr>
          <p:cNvSpPr/>
          <p:nvPr/>
        </p:nvSpPr>
        <p:spPr>
          <a:xfrm>
            <a:off x="1085745" y="7611937"/>
            <a:ext cx="4446467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65BA5948-A775-BA7C-8C71-8FC30454EAD0}"/>
              </a:ext>
            </a:extLst>
          </p:cNvPr>
          <p:cNvSpPr txBox="1"/>
          <p:nvPr/>
        </p:nvSpPr>
        <p:spPr>
          <a:xfrm>
            <a:off x="1085745" y="7008145"/>
            <a:ext cx="8058255" cy="414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en-US" sz="25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Real-world impact when spoofing succeeds</a:t>
            </a:r>
          </a:p>
        </p:txBody>
      </p:sp>
      <p:sp>
        <p:nvSpPr>
          <p:cNvPr id="2" name="Google Shape;194;g3e69c54ea80_1_333">
            <a:extLst>
              <a:ext uri="{FF2B5EF4-FFF2-40B4-BE49-F238E27FC236}">
                <a16:creationId xmlns:a16="http://schemas.microsoft.com/office/drawing/2014/main" id="{D02BA60A-EB1C-0A69-BF36-EA11B2612CF0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Sensor Spoofing and Data Manipulation Risks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</p:spTree>
    <p:extLst>
      <p:ext uri="{BB962C8B-B14F-4D97-AF65-F5344CB8AC3E}">
        <p14:creationId xmlns:p14="http://schemas.microsoft.com/office/powerpoint/2010/main" val="354167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32DFC-D224-9C28-D88A-9BB2A8D8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62;g3e69c54ea80_1_265">
            <a:extLst>
              <a:ext uri="{FF2B5EF4-FFF2-40B4-BE49-F238E27FC236}">
                <a16:creationId xmlns:a16="http://schemas.microsoft.com/office/drawing/2014/main" id="{94F69B8C-3D40-2F67-DD81-143B4A8F07FB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63;g3e69c54ea80_1_265">
            <a:extLst>
              <a:ext uri="{FF2B5EF4-FFF2-40B4-BE49-F238E27FC236}">
                <a16:creationId xmlns:a16="http://schemas.microsoft.com/office/drawing/2014/main" id="{B1324976-25B0-6EFD-A325-37587404FF83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65;g3e69c54ea80_1_265">
            <a:extLst>
              <a:ext uri="{FF2B5EF4-FFF2-40B4-BE49-F238E27FC236}">
                <a16:creationId xmlns:a16="http://schemas.microsoft.com/office/drawing/2014/main" id="{4C90B16E-8CF5-A223-FC96-AB32AF195CA2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Sensor Spoofing and Data Manipulation Risks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5" name="Google Shape;166;g3e69c54ea80_1_265">
            <a:extLst>
              <a:ext uri="{FF2B5EF4-FFF2-40B4-BE49-F238E27FC236}">
                <a16:creationId xmlns:a16="http://schemas.microsoft.com/office/drawing/2014/main" id="{A55C7D91-571D-43F8-129E-BD04642447DB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0B4AE37-71AA-33ED-8FED-E7B857584B0E}"/>
              </a:ext>
            </a:extLst>
          </p:cNvPr>
          <p:cNvSpPr/>
          <p:nvPr/>
        </p:nvSpPr>
        <p:spPr>
          <a:xfrm>
            <a:off x="9811016" y="3919941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A1DA157-53CC-DBBE-3D83-62800650455D}"/>
              </a:ext>
            </a:extLst>
          </p:cNvPr>
          <p:cNvSpPr/>
          <p:nvPr/>
        </p:nvSpPr>
        <p:spPr>
          <a:xfrm>
            <a:off x="9811016" y="5042749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34AA5EB-ABBD-B298-5BC7-2A7340173129}"/>
              </a:ext>
            </a:extLst>
          </p:cNvPr>
          <p:cNvSpPr/>
          <p:nvPr/>
        </p:nvSpPr>
        <p:spPr>
          <a:xfrm>
            <a:off x="9811016" y="6165557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397BD9DB-8F75-3BE6-5800-7A100039DDB9}"/>
              </a:ext>
            </a:extLst>
          </p:cNvPr>
          <p:cNvSpPr/>
          <p:nvPr/>
        </p:nvSpPr>
        <p:spPr>
          <a:xfrm>
            <a:off x="9811016" y="7288364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E876F96-E6E5-6A6E-0D1F-8011C573AC99}"/>
              </a:ext>
            </a:extLst>
          </p:cNvPr>
          <p:cNvSpPr txBox="1"/>
          <p:nvPr/>
        </p:nvSpPr>
        <p:spPr>
          <a:xfrm>
            <a:off x="1011489" y="2401391"/>
            <a:ext cx="8132511" cy="481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72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Protective Measures and Response</a:t>
            </a:r>
            <a:endParaRPr lang="en-US" sz="600" dirty="0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4F631AB0-CDB7-3C66-692D-24F42010C689}"/>
              </a:ext>
            </a:extLst>
          </p:cNvPr>
          <p:cNvSpPr/>
          <p:nvPr/>
        </p:nvSpPr>
        <p:spPr>
          <a:xfrm>
            <a:off x="9811032" y="3009900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520918" h="520918">
                <a:moveTo>
                  <a:pt x="0" y="0"/>
                </a:moveTo>
                <a:lnTo>
                  <a:pt x="520918" y="0"/>
                </a:lnTo>
                <a:lnTo>
                  <a:pt x="520918" y="520918"/>
                </a:lnTo>
                <a:lnTo>
                  <a:pt x="0" y="520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8B9D599E-ECB9-56E2-F579-7B6247D43F87}"/>
              </a:ext>
            </a:extLst>
          </p:cNvPr>
          <p:cNvSpPr txBox="1"/>
          <p:nvPr/>
        </p:nvSpPr>
        <p:spPr>
          <a:xfrm>
            <a:off x="10528368" y="2933700"/>
            <a:ext cx="6607311" cy="74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Verify readings from multiple independent sources</a:t>
            </a:r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1AA128AA-ECA8-BC7A-4FB4-B9FD9ECB38F5}"/>
              </a:ext>
            </a:extLst>
          </p:cNvPr>
          <p:cNvSpPr/>
          <p:nvPr/>
        </p:nvSpPr>
        <p:spPr>
          <a:xfrm>
            <a:off x="9811017" y="4155848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520918" h="520918">
                <a:moveTo>
                  <a:pt x="0" y="0"/>
                </a:moveTo>
                <a:lnTo>
                  <a:pt x="520918" y="0"/>
                </a:lnTo>
                <a:lnTo>
                  <a:pt x="520918" y="520918"/>
                </a:lnTo>
                <a:lnTo>
                  <a:pt x="0" y="520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7BBB6B40-DE41-0916-7C6C-E7CEF05DBEC9}"/>
              </a:ext>
            </a:extLst>
          </p:cNvPr>
          <p:cNvSpPr txBox="1"/>
          <p:nvPr/>
        </p:nvSpPr>
        <p:spPr>
          <a:xfrm>
            <a:off x="10528368" y="4098038"/>
            <a:ext cx="6607281" cy="74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Implement data validation checks and range limits</a:t>
            </a:r>
          </a:p>
        </p:txBody>
      </p:sp>
      <p:sp>
        <p:nvSpPr>
          <p:cNvPr id="15" name="Freeform 18">
            <a:extLst>
              <a:ext uri="{FF2B5EF4-FFF2-40B4-BE49-F238E27FC236}">
                <a16:creationId xmlns:a16="http://schemas.microsoft.com/office/drawing/2014/main" id="{1A639F75-D473-9B8C-BAC7-EE22C7F22F2C}"/>
              </a:ext>
            </a:extLst>
          </p:cNvPr>
          <p:cNvSpPr/>
          <p:nvPr/>
        </p:nvSpPr>
        <p:spPr>
          <a:xfrm>
            <a:off x="9811016" y="5301796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390689" h="390689">
                <a:moveTo>
                  <a:pt x="0" y="0"/>
                </a:moveTo>
                <a:lnTo>
                  <a:pt x="390689" y="0"/>
                </a:lnTo>
                <a:lnTo>
                  <a:pt x="390689" y="390689"/>
                </a:lnTo>
                <a:lnTo>
                  <a:pt x="0" y="3906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03087063-8355-4EC9-DCCE-E9A05E1CDDCB}"/>
              </a:ext>
            </a:extLst>
          </p:cNvPr>
          <p:cNvSpPr txBox="1"/>
          <p:nvPr/>
        </p:nvSpPr>
        <p:spPr>
          <a:xfrm>
            <a:off x="10528368" y="5265311"/>
            <a:ext cx="6607280" cy="745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Monitor for sudden or unexplained changes in sensor data</a:t>
            </a: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F1073B74-874F-13FE-0998-BE7E6D5099DF}"/>
              </a:ext>
            </a:extLst>
          </p:cNvPr>
          <p:cNvSpPr txBox="1"/>
          <p:nvPr/>
        </p:nvSpPr>
        <p:spPr>
          <a:xfrm>
            <a:off x="10528368" y="6370871"/>
            <a:ext cx="6607280" cy="745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Use encrypted communications between sensors and systems</a:t>
            </a: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7057FD67-BF00-5493-968A-7AE65EACA47C}"/>
              </a:ext>
            </a:extLst>
          </p:cNvPr>
          <p:cNvSpPr txBox="1"/>
          <p:nvPr/>
        </p:nvSpPr>
        <p:spPr>
          <a:xfrm>
            <a:off x="10528368" y="7658100"/>
            <a:ext cx="6607280" cy="360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Report anomalies immediately to security teams</a:t>
            </a:r>
          </a:p>
        </p:txBody>
      </p:sp>
      <p:sp>
        <p:nvSpPr>
          <p:cNvPr id="19" name="Freeform 25">
            <a:extLst>
              <a:ext uri="{FF2B5EF4-FFF2-40B4-BE49-F238E27FC236}">
                <a16:creationId xmlns:a16="http://schemas.microsoft.com/office/drawing/2014/main" id="{6A56BB15-554D-E682-EC65-9A7DEA5B8262}"/>
              </a:ext>
            </a:extLst>
          </p:cNvPr>
          <p:cNvSpPr/>
          <p:nvPr/>
        </p:nvSpPr>
        <p:spPr>
          <a:xfrm>
            <a:off x="9811016" y="6444829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390689" h="390689">
                <a:moveTo>
                  <a:pt x="0" y="0"/>
                </a:moveTo>
                <a:lnTo>
                  <a:pt x="390689" y="0"/>
                </a:lnTo>
                <a:lnTo>
                  <a:pt x="390689" y="390688"/>
                </a:lnTo>
                <a:lnTo>
                  <a:pt x="0" y="39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0" name="Freeform 26">
            <a:extLst>
              <a:ext uri="{FF2B5EF4-FFF2-40B4-BE49-F238E27FC236}">
                <a16:creationId xmlns:a16="http://schemas.microsoft.com/office/drawing/2014/main" id="{54A6792D-95C5-4421-50C0-C640EE750439}"/>
              </a:ext>
            </a:extLst>
          </p:cNvPr>
          <p:cNvSpPr/>
          <p:nvPr/>
        </p:nvSpPr>
        <p:spPr>
          <a:xfrm>
            <a:off x="9811016" y="7593691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390689" h="390689">
                <a:moveTo>
                  <a:pt x="0" y="0"/>
                </a:moveTo>
                <a:lnTo>
                  <a:pt x="390689" y="0"/>
                </a:lnTo>
                <a:lnTo>
                  <a:pt x="390689" y="390689"/>
                </a:lnTo>
                <a:lnTo>
                  <a:pt x="0" y="3906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cxnSp>
        <p:nvCxnSpPr>
          <p:cNvPr id="21" name="Google Shape;85;p1">
            <a:extLst>
              <a:ext uri="{FF2B5EF4-FFF2-40B4-BE49-F238E27FC236}">
                <a16:creationId xmlns:a16="http://schemas.microsoft.com/office/drawing/2014/main" id="{F6F8E8DA-E5D2-4012-F32A-A5A923168135}"/>
              </a:ext>
            </a:extLst>
          </p:cNvPr>
          <p:cNvCxnSpPr/>
          <p:nvPr/>
        </p:nvCxnSpPr>
        <p:spPr>
          <a:xfrm>
            <a:off x="1085700" y="8004402"/>
            <a:ext cx="4446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88;p1">
            <a:extLst>
              <a:ext uri="{FF2B5EF4-FFF2-40B4-BE49-F238E27FC236}">
                <a16:creationId xmlns:a16="http://schemas.microsoft.com/office/drawing/2014/main" id="{7311017F-6ADC-41F6-6C4E-64F065827AB1}"/>
              </a:ext>
            </a:extLst>
          </p:cNvPr>
          <p:cNvSpPr txBox="1"/>
          <p:nvPr/>
        </p:nvSpPr>
        <p:spPr>
          <a:xfrm>
            <a:off x="1085700" y="7255490"/>
            <a:ext cx="80583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Defending against sensor spoofing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10613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460</Words>
  <Application>Microsoft Office PowerPoint</Application>
  <PresentationFormat>Custom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Arial</vt:lpstr>
      <vt:lpstr>Libre Franklin Thin</vt:lpstr>
      <vt:lpstr>Libre Franklin</vt:lpstr>
      <vt:lpstr>Libre Franklin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AISEC Course Slides</dc:title>
  <dc:creator>Kaisha's Rig</dc:creator>
  <cp:lastModifiedBy>Kaisha Balkish</cp:lastModifiedBy>
  <cp:revision>30</cp:revision>
  <dcterms:created xsi:type="dcterms:W3CDTF">2006-08-16T00:00:00Z</dcterms:created>
  <dcterms:modified xsi:type="dcterms:W3CDTF">2026-05-07T11:08:00Z</dcterms:modified>
  <dc:identifier>DAGxKB2NCss</dc:identifier>
</cp:coreProperties>
</file>